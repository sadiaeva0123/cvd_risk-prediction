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E8D13D3-F409-40F9-8654-14557241AADC}">
  <a:tblStyle styleId="{4E8D13D3-F409-40F9-8654-14557241AAD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376"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h67559518bfc7e2ed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h67559518bfc7e2ed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h67559518bfc7e2e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h67559518bfc7e2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h67559518bfc7e2ed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h67559518bfc7e2e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h67559518bfc7e2e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h67559518bfc7e2e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h67559518bfc7e2ed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h67559518bfc7e2ed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CVD prediction using ML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en" sz="1100" dirty="0">
                <a:solidFill>
                  <a:schemeClr val="dk1"/>
                </a:solidFill>
              </a:rPr>
              <a:t>This project explores whether AI and machine learning can provide an effective</a:t>
            </a:r>
            <a:r>
              <a:rPr lang="en" sz="1100" b="1" dirty="0">
                <a:solidFill>
                  <a:schemeClr val="dk1"/>
                </a:solidFill>
              </a:rPr>
              <a:t> CVD risk assessment</a:t>
            </a:r>
            <a:r>
              <a:rPr lang="en" sz="1100" dirty="0">
                <a:solidFill>
                  <a:schemeClr val="dk1"/>
                </a:solidFill>
              </a:rPr>
              <a:t> using routinely available patient information. While similar CVD prediction research has been conducted using populations and datasets from outside Bangladesh, this project focuses specifically on </a:t>
            </a:r>
            <a:r>
              <a:rPr lang="en" sz="1100" b="1" dirty="0">
                <a:solidFill>
                  <a:schemeClr val="dk1"/>
                </a:solidFill>
              </a:rPr>
              <a:t>Bangladesh-centric patient data</a:t>
            </a:r>
            <a:r>
              <a:rPr lang="en" sz="1100" dirty="0">
                <a:solidFill>
                  <a:schemeClr val="dk1"/>
                </a:solidFill>
              </a:rPr>
              <a:t>. The study places three approaches side by side—</a:t>
            </a:r>
            <a:r>
              <a:rPr lang="en" sz="1100" b="1" dirty="0">
                <a:solidFill>
                  <a:schemeClr val="dk1"/>
                </a:solidFill>
              </a:rPr>
              <a:t>a trained ML ensemble, general-purpose AI systems such as ChatGPT, Grok and Claude, and a doctor's assessment</a:t>
            </a:r>
            <a:r>
              <a:rPr lang="en" sz="1100" dirty="0">
                <a:solidFill>
                  <a:schemeClr val="dk1"/>
                </a:solidFill>
              </a:rPr>
              <a:t>—using the same patient information and an independent CVD outcome for comparison. The goal is to understand how these three approaches perform in CVD risk assessment and provide evidence on which direction or combination of approaches may be most useful for an accessible early-warning assessment before seeking further medical evaluation.</a:t>
            </a:r>
            <a:endParaRPr sz="1100" dirty="0">
              <a:solidFill>
                <a:schemeClr val="dk1"/>
              </a:solidFill>
            </a:endParaRPr>
          </a:p>
        </p:txBody>
      </p:sp>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 Goal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Performance with 5 models training + ensemble</a:t>
            </a:r>
            <a:endParaRPr/>
          </a:p>
        </p:txBody>
      </p:sp>
      <p:graphicFrame>
        <p:nvGraphicFramePr>
          <p:cNvPr id="66" name="Google Shape;66;p15"/>
          <p:cNvGraphicFramePr/>
          <p:nvPr/>
        </p:nvGraphicFramePr>
        <p:xfrm>
          <a:off x="172000" y="1411075"/>
          <a:ext cx="8800000" cy="2755121"/>
        </p:xfrm>
        <a:graphic>
          <a:graphicData uri="http://schemas.openxmlformats.org/drawingml/2006/table">
            <a:tbl>
              <a:tblPr>
                <a:noFill/>
                <a:tableStyleId>{4E8D13D3-F409-40F9-8654-14557241AADC}</a:tableStyleId>
              </a:tblPr>
              <a:tblGrid>
                <a:gridCol w="2195775">
                  <a:extLst>
                    <a:ext uri="{9D8B030D-6E8A-4147-A177-3AD203B41FA5}">
                      <a16:colId xmlns:a16="http://schemas.microsoft.com/office/drawing/2014/main" val="20000"/>
                    </a:ext>
                  </a:extLst>
                </a:gridCol>
                <a:gridCol w="1131675">
                  <a:extLst>
                    <a:ext uri="{9D8B030D-6E8A-4147-A177-3AD203B41FA5}">
                      <a16:colId xmlns:a16="http://schemas.microsoft.com/office/drawing/2014/main" val="20001"/>
                    </a:ext>
                  </a:extLst>
                </a:gridCol>
                <a:gridCol w="1097875">
                  <a:extLst>
                    <a:ext uri="{9D8B030D-6E8A-4147-A177-3AD203B41FA5}">
                      <a16:colId xmlns:a16="http://schemas.microsoft.com/office/drawing/2014/main" val="20002"/>
                    </a:ext>
                  </a:extLst>
                </a:gridCol>
                <a:gridCol w="912100">
                  <a:extLst>
                    <a:ext uri="{9D8B030D-6E8A-4147-A177-3AD203B41FA5}">
                      <a16:colId xmlns:a16="http://schemas.microsoft.com/office/drawing/2014/main" val="20003"/>
                    </a:ext>
                  </a:extLst>
                </a:gridCol>
                <a:gridCol w="1233000">
                  <a:extLst>
                    <a:ext uri="{9D8B030D-6E8A-4147-A177-3AD203B41FA5}">
                      <a16:colId xmlns:a16="http://schemas.microsoft.com/office/drawing/2014/main" val="20004"/>
                    </a:ext>
                  </a:extLst>
                </a:gridCol>
                <a:gridCol w="912100">
                  <a:extLst>
                    <a:ext uri="{9D8B030D-6E8A-4147-A177-3AD203B41FA5}">
                      <a16:colId xmlns:a16="http://schemas.microsoft.com/office/drawing/2014/main" val="20005"/>
                    </a:ext>
                  </a:extLst>
                </a:gridCol>
                <a:gridCol w="1317475">
                  <a:extLst>
                    <a:ext uri="{9D8B030D-6E8A-4147-A177-3AD203B41FA5}">
                      <a16:colId xmlns:a16="http://schemas.microsoft.com/office/drawing/2014/main" val="20006"/>
                    </a:ext>
                  </a:extLst>
                </a:gridCol>
              </a:tblGrid>
              <a:tr h="0">
                <a:tc>
                  <a:txBody>
                    <a:bodyPr/>
                    <a:lstStyle/>
                    <a:p>
                      <a:pPr marL="0" lvl="0" indent="0" algn="ctr" rtl="0">
                        <a:lnSpc>
                          <a:spcPct val="115000"/>
                        </a:lnSpc>
                        <a:spcBef>
                          <a:spcPts val="0"/>
                        </a:spcBef>
                        <a:spcAft>
                          <a:spcPts val="0"/>
                        </a:spcAft>
                        <a:buNone/>
                      </a:pPr>
                      <a:r>
                        <a:rPr lang="en" sz="1100" b="1"/>
                        <a:t>Model</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Accuracy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Precision</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Recall</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Specificity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F1</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ROC-AUC</a:t>
                      </a:r>
                      <a:endParaRPr sz="1100" b="1"/>
                    </a:p>
                  </a:txBody>
                  <a:tcPr marL="91425" marR="91425" marT="91425" marB="91425"/>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t>SVM</a:t>
                      </a:r>
                      <a:endParaRPr/>
                    </a:p>
                  </a:txBody>
                  <a:tcPr marL="91425" marR="91425" marT="91425" marB="91425"/>
                </a:tc>
                <a:tc>
                  <a:txBody>
                    <a:bodyPr/>
                    <a:lstStyle/>
                    <a:p>
                      <a:pPr marL="0" lvl="0" indent="0" algn="r" rtl="0">
                        <a:lnSpc>
                          <a:spcPct val="115000"/>
                        </a:lnSpc>
                        <a:spcBef>
                          <a:spcPts val="0"/>
                        </a:spcBef>
                        <a:spcAft>
                          <a:spcPts val="0"/>
                        </a:spcAft>
                        <a:buNone/>
                      </a:pPr>
                      <a:r>
                        <a:rPr lang="en"/>
                        <a:t>79.93%</a:t>
                      </a:r>
                      <a:endParaRPr/>
                    </a:p>
                  </a:txBody>
                  <a:tcPr marL="91425" marR="91425" marT="91425" marB="91425"/>
                </a:tc>
                <a:tc>
                  <a:txBody>
                    <a:bodyPr/>
                    <a:lstStyle/>
                    <a:p>
                      <a:pPr marL="0" lvl="0" indent="0" algn="r" rtl="0">
                        <a:lnSpc>
                          <a:spcPct val="115000"/>
                        </a:lnSpc>
                        <a:spcBef>
                          <a:spcPts val="0"/>
                        </a:spcBef>
                        <a:spcAft>
                          <a:spcPts val="0"/>
                        </a:spcAft>
                        <a:buNone/>
                      </a:pPr>
                      <a:r>
                        <a:rPr lang="en"/>
                        <a:t>45.21%</a:t>
                      </a:r>
                      <a:endParaRPr/>
                    </a:p>
                  </a:txBody>
                  <a:tcPr marL="91425" marR="91425" marT="91425" marB="91425"/>
                </a:tc>
                <a:tc>
                  <a:txBody>
                    <a:bodyPr/>
                    <a:lstStyle/>
                    <a:p>
                      <a:pPr marL="0" lvl="0" indent="0" algn="r" rtl="0">
                        <a:lnSpc>
                          <a:spcPct val="115000"/>
                        </a:lnSpc>
                        <a:spcBef>
                          <a:spcPts val="0"/>
                        </a:spcBef>
                        <a:spcAft>
                          <a:spcPts val="0"/>
                        </a:spcAft>
                        <a:buNone/>
                      </a:pPr>
                      <a:r>
                        <a:rPr lang="en"/>
                        <a:t>8.84%</a:t>
                      </a:r>
                      <a:endParaRPr/>
                    </a:p>
                  </a:txBody>
                  <a:tcPr marL="91425" marR="91425" marT="91425" marB="91425"/>
                </a:tc>
                <a:tc>
                  <a:txBody>
                    <a:bodyPr/>
                    <a:lstStyle/>
                    <a:p>
                      <a:pPr marL="0" lvl="0" indent="0" algn="r" rtl="0">
                        <a:lnSpc>
                          <a:spcPct val="115000"/>
                        </a:lnSpc>
                        <a:spcBef>
                          <a:spcPts val="0"/>
                        </a:spcBef>
                        <a:spcAft>
                          <a:spcPts val="0"/>
                        </a:spcAft>
                        <a:buNone/>
                      </a:pPr>
                      <a:r>
                        <a:rPr lang="en"/>
                        <a:t>97.37%</a:t>
                      </a:r>
                      <a:endParaRPr/>
                    </a:p>
                  </a:txBody>
                  <a:tcPr marL="91425" marR="91425" marT="91425" marB="91425"/>
                </a:tc>
                <a:tc>
                  <a:txBody>
                    <a:bodyPr/>
                    <a:lstStyle/>
                    <a:p>
                      <a:pPr marL="0" lvl="0" indent="0" algn="r" rtl="0">
                        <a:lnSpc>
                          <a:spcPct val="115000"/>
                        </a:lnSpc>
                        <a:spcBef>
                          <a:spcPts val="0"/>
                        </a:spcBef>
                        <a:spcAft>
                          <a:spcPts val="0"/>
                        </a:spcAft>
                        <a:buNone/>
                      </a:pPr>
                      <a:r>
                        <a:rPr lang="en"/>
                        <a:t>14.78%</a:t>
                      </a:r>
                      <a:endParaRPr/>
                    </a:p>
                  </a:txBody>
                  <a:tcPr marL="91425" marR="91425" marT="91425" marB="91425"/>
                </a:tc>
                <a:tc>
                  <a:txBody>
                    <a:bodyPr/>
                    <a:lstStyle/>
                    <a:p>
                      <a:pPr marL="0" lvl="0" indent="0" algn="r" rtl="0">
                        <a:lnSpc>
                          <a:spcPct val="115000"/>
                        </a:lnSpc>
                        <a:spcBef>
                          <a:spcPts val="0"/>
                        </a:spcBef>
                        <a:spcAft>
                          <a:spcPts val="0"/>
                        </a:spcAft>
                        <a:buNone/>
                      </a:pPr>
                      <a:r>
                        <a:rPr lang="en"/>
                        <a:t>72.05%</a:t>
                      </a:r>
                      <a:endParaRPr/>
                    </a:p>
                  </a:txBody>
                  <a:tcPr marL="91425" marR="91425" marT="91425" marB="91425"/>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t>Random Forest</a:t>
                      </a:r>
                      <a:endParaRPr/>
                    </a:p>
                  </a:txBody>
                  <a:tcPr marL="91425" marR="91425" marT="91425" marB="91425"/>
                </a:tc>
                <a:tc>
                  <a:txBody>
                    <a:bodyPr/>
                    <a:lstStyle/>
                    <a:p>
                      <a:pPr marL="0" lvl="0" indent="0" algn="r" rtl="0">
                        <a:lnSpc>
                          <a:spcPct val="115000"/>
                        </a:lnSpc>
                        <a:spcBef>
                          <a:spcPts val="0"/>
                        </a:spcBef>
                        <a:spcAft>
                          <a:spcPts val="0"/>
                        </a:spcAft>
                        <a:buNone/>
                      </a:pPr>
                      <a:r>
                        <a:rPr lang="en"/>
                        <a:t>75.40%</a:t>
                      </a:r>
                      <a:endParaRPr/>
                    </a:p>
                  </a:txBody>
                  <a:tcPr marL="91425" marR="91425" marT="91425" marB="91425"/>
                </a:tc>
                <a:tc>
                  <a:txBody>
                    <a:bodyPr/>
                    <a:lstStyle/>
                    <a:p>
                      <a:pPr marL="0" lvl="0" indent="0" algn="r" rtl="0">
                        <a:lnSpc>
                          <a:spcPct val="115000"/>
                        </a:lnSpc>
                        <a:spcBef>
                          <a:spcPts val="0"/>
                        </a:spcBef>
                        <a:spcAft>
                          <a:spcPts val="0"/>
                        </a:spcAft>
                        <a:buNone/>
                      </a:pPr>
                      <a:r>
                        <a:rPr lang="en"/>
                        <a:t>41.82%</a:t>
                      </a:r>
                      <a:endParaRPr/>
                    </a:p>
                  </a:txBody>
                  <a:tcPr marL="91425" marR="91425" marT="91425" marB="91425"/>
                </a:tc>
                <a:tc>
                  <a:txBody>
                    <a:bodyPr/>
                    <a:lstStyle/>
                    <a:p>
                      <a:pPr marL="0" lvl="0" indent="0" algn="r" rtl="0">
                        <a:lnSpc>
                          <a:spcPct val="115000"/>
                        </a:lnSpc>
                        <a:spcBef>
                          <a:spcPts val="0"/>
                        </a:spcBef>
                        <a:spcAft>
                          <a:spcPts val="0"/>
                        </a:spcAft>
                        <a:buNone/>
                      </a:pPr>
                      <a:r>
                        <a:rPr lang="en"/>
                        <a:t>63.63%</a:t>
                      </a:r>
                      <a:endParaRPr/>
                    </a:p>
                  </a:txBody>
                  <a:tcPr marL="91425" marR="91425" marT="91425" marB="91425"/>
                </a:tc>
                <a:tc>
                  <a:txBody>
                    <a:bodyPr/>
                    <a:lstStyle/>
                    <a:p>
                      <a:pPr marL="0" lvl="0" indent="0" algn="r" rtl="0">
                        <a:lnSpc>
                          <a:spcPct val="115000"/>
                        </a:lnSpc>
                        <a:spcBef>
                          <a:spcPts val="0"/>
                        </a:spcBef>
                        <a:spcAft>
                          <a:spcPts val="0"/>
                        </a:spcAft>
                        <a:buNone/>
                      </a:pPr>
                      <a:r>
                        <a:rPr lang="en"/>
                        <a:t>78.28%</a:t>
                      </a:r>
                      <a:endParaRPr/>
                    </a:p>
                  </a:txBody>
                  <a:tcPr marL="91425" marR="91425" marT="91425" marB="91425"/>
                </a:tc>
                <a:tc>
                  <a:txBody>
                    <a:bodyPr/>
                    <a:lstStyle/>
                    <a:p>
                      <a:pPr marL="0" lvl="0" indent="0" algn="r" rtl="0">
                        <a:lnSpc>
                          <a:spcPct val="115000"/>
                        </a:lnSpc>
                        <a:spcBef>
                          <a:spcPts val="0"/>
                        </a:spcBef>
                        <a:spcAft>
                          <a:spcPts val="0"/>
                        </a:spcAft>
                        <a:buNone/>
                      </a:pPr>
                      <a:r>
                        <a:rPr lang="en"/>
                        <a:t>50.47%</a:t>
                      </a:r>
                      <a:endParaRPr/>
                    </a:p>
                  </a:txBody>
                  <a:tcPr marL="91425" marR="91425" marT="91425" marB="91425"/>
                </a:tc>
                <a:tc>
                  <a:txBody>
                    <a:bodyPr/>
                    <a:lstStyle/>
                    <a:p>
                      <a:pPr marL="0" lvl="0" indent="0" algn="r" rtl="0">
                        <a:lnSpc>
                          <a:spcPct val="115000"/>
                        </a:lnSpc>
                        <a:spcBef>
                          <a:spcPts val="0"/>
                        </a:spcBef>
                        <a:spcAft>
                          <a:spcPts val="0"/>
                        </a:spcAft>
                        <a:buNone/>
                      </a:pPr>
                      <a:r>
                        <a:rPr lang="en"/>
                        <a:t>79.94%</a:t>
                      </a:r>
                      <a:endParaRPr/>
                    </a:p>
                  </a:txBody>
                  <a:tcPr marL="91425" marR="91425" marT="91425" marB="91425"/>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a:t>KNN</a:t>
                      </a:r>
                      <a:endParaRPr/>
                    </a:p>
                  </a:txBody>
                  <a:tcPr marL="91425" marR="91425" marT="91425" marB="91425"/>
                </a:tc>
                <a:tc>
                  <a:txBody>
                    <a:bodyPr/>
                    <a:lstStyle/>
                    <a:p>
                      <a:pPr marL="0" lvl="0" indent="0" algn="r" rtl="0">
                        <a:lnSpc>
                          <a:spcPct val="115000"/>
                        </a:lnSpc>
                        <a:spcBef>
                          <a:spcPts val="0"/>
                        </a:spcBef>
                        <a:spcAft>
                          <a:spcPts val="0"/>
                        </a:spcAft>
                        <a:buNone/>
                      </a:pPr>
                      <a:r>
                        <a:rPr lang="en"/>
                        <a:t>77.40%</a:t>
                      </a:r>
                      <a:endParaRPr/>
                    </a:p>
                  </a:txBody>
                  <a:tcPr marL="91425" marR="91425" marT="91425" marB="91425"/>
                </a:tc>
                <a:tc>
                  <a:txBody>
                    <a:bodyPr/>
                    <a:lstStyle/>
                    <a:p>
                      <a:pPr marL="0" lvl="0" indent="0" algn="r" rtl="0">
                        <a:lnSpc>
                          <a:spcPct val="115000"/>
                        </a:lnSpc>
                        <a:spcBef>
                          <a:spcPts val="0"/>
                        </a:spcBef>
                        <a:spcAft>
                          <a:spcPts val="0"/>
                        </a:spcAft>
                        <a:buNone/>
                      </a:pPr>
                      <a:r>
                        <a:rPr lang="en"/>
                        <a:t>39.99%</a:t>
                      </a:r>
                      <a:endParaRPr/>
                    </a:p>
                  </a:txBody>
                  <a:tcPr marL="91425" marR="91425" marT="91425" marB="91425"/>
                </a:tc>
                <a:tc>
                  <a:txBody>
                    <a:bodyPr/>
                    <a:lstStyle/>
                    <a:p>
                      <a:pPr marL="0" lvl="0" indent="0" algn="r" rtl="0">
                        <a:lnSpc>
                          <a:spcPct val="115000"/>
                        </a:lnSpc>
                        <a:spcBef>
                          <a:spcPts val="0"/>
                        </a:spcBef>
                        <a:spcAft>
                          <a:spcPts val="0"/>
                        </a:spcAft>
                        <a:buNone/>
                      </a:pPr>
                      <a:r>
                        <a:rPr lang="en"/>
                        <a:t>29.43%</a:t>
                      </a:r>
                      <a:endParaRPr/>
                    </a:p>
                  </a:txBody>
                  <a:tcPr marL="91425" marR="91425" marT="91425" marB="91425"/>
                </a:tc>
                <a:tc>
                  <a:txBody>
                    <a:bodyPr/>
                    <a:lstStyle/>
                    <a:p>
                      <a:pPr marL="0" lvl="0" indent="0" algn="r" rtl="0">
                        <a:lnSpc>
                          <a:spcPct val="115000"/>
                        </a:lnSpc>
                        <a:spcBef>
                          <a:spcPts val="0"/>
                        </a:spcBef>
                        <a:spcAft>
                          <a:spcPts val="0"/>
                        </a:spcAft>
                        <a:buNone/>
                      </a:pPr>
                      <a:r>
                        <a:rPr lang="en"/>
                        <a:t>89.16%</a:t>
                      </a:r>
                      <a:endParaRPr/>
                    </a:p>
                  </a:txBody>
                  <a:tcPr marL="91425" marR="91425" marT="91425" marB="91425"/>
                </a:tc>
                <a:tc>
                  <a:txBody>
                    <a:bodyPr/>
                    <a:lstStyle/>
                    <a:p>
                      <a:pPr marL="0" lvl="0" indent="0" algn="r" rtl="0">
                        <a:lnSpc>
                          <a:spcPct val="115000"/>
                        </a:lnSpc>
                        <a:spcBef>
                          <a:spcPts val="0"/>
                        </a:spcBef>
                        <a:spcAft>
                          <a:spcPts val="0"/>
                        </a:spcAft>
                        <a:buNone/>
                      </a:pPr>
                      <a:r>
                        <a:rPr lang="en"/>
                        <a:t>33.90%</a:t>
                      </a:r>
                      <a:endParaRPr/>
                    </a:p>
                  </a:txBody>
                  <a:tcPr marL="91425" marR="91425" marT="91425" marB="91425"/>
                </a:tc>
                <a:tc>
                  <a:txBody>
                    <a:bodyPr/>
                    <a:lstStyle/>
                    <a:p>
                      <a:pPr marL="0" lvl="0" indent="0" algn="r" rtl="0">
                        <a:lnSpc>
                          <a:spcPct val="115000"/>
                        </a:lnSpc>
                        <a:spcBef>
                          <a:spcPts val="0"/>
                        </a:spcBef>
                        <a:spcAft>
                          <a:spcPts val="0"/>
                        </a:spcAft>
                        <a:buNone/>
                      </a:pPr>
                      <a:r>
                        <a:rPr lang="en"/>
                        <a:t>70.02%</a:t>
                      </a:r>
                      <a:endParaRPr/>
                    </a:p>
                  </a:txBody>
                  <a:tcPr marL="91425" marR="91425" marT="91425" marB="91425"/>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a:t>Logistic Regression</a:t>
                      </a:r>
                      <a:endParaRPr/>
                    </a:p>
                  </a:txBody>
                  <a:tcPr marL="91425" marR="91425" marT="91425" marB="91425"/>
                </a:tc>
                <a:tc>
                  <a:txBody>
                    <a:bodyPr/>
                    <a:lstStyle/>
                    <a:p>
                      <a:pPr marL="0" lvl="0" indent="0" algn="r" rtl="0">
                        <a:lnSpc>
                          <a:spcPct val="115000"/>
                        </a:lnSpc>
                        <a:spcBef>
                          <a:spcPts val="0"/>
                        </a:spcBef>
                        <a:spcAft>
                          <a:spcPts val="0"/>
                        </a:spcAft>
                        <a:buNone/>
                      </a:pPr>
                      <a:r>
                        <a:rPr lang="en"/>
                        <a:t>47.36%</a:t>
                      </a:r>
                      <a:endParaRPr/>
                    </a:p>
                  </a:txBody>
                  <a:tcPr marL="91425" marR="91425" marT="91425" marB="91425"/>
                </a:tc>
                <a:tc>
                  <a:txBody>
                    <a:bodyPr/>
                    <a:lstStyle/>
                    <a:p>
                      <a:pPr marL="0" lvl="0" indent="0" algn="r" rtl="0">
                        <a:lnSpc>
                          <a:spcPct val="115000"/>
                        </a:lnSpc>
                        <a:spcBef>
                          <a:spcPts val="0"/>
                        </a:spcBef>
                        <a:spcAft>
                          <a:spcPts val="0"/>
                        </a:spcAft>
                        <a:buNone/>
                      </a:pPr>
                      <a:r>
                        <a:rPr lang="en"/>
                        <a:t>25.53%</a:t>
                      </a:r>
                      <a:endParaRPr/>
                    </a:p>
                  </a:txBody>
                  <a:tcPr marL="91425" marR="91425" marT="91425" marB="91425"/>
                </a:tc>
                <a:tc>
                  <a:txBody>
                    <a:bodyPr/>
                    <a:lstStyle/>
                    <a:p>
                      <a:pPr marL="0" lvl="0" indent="0" algn="r" rtl="0">
                        <a:lnSpc>
                          <a:spcPct val="115000"/>
                        </a:lnSpc>
                        <a:spcBef>
                          <a:spcPts val="0"/>
                        </a:spcBef>
                        <a:spcAft>
                          <a:spcPts val="0"/>
                        </a:spcAft>
                        <a:buNone/>
                      </a:pPr>
                      <a:r>
                        <a:rPr lang="en"/>
                        <a:t>87.22%</a:t>
                      </a:r>
                      <a:endParaRPr/>
                    </a:p>
                  </a:txBody>
                  <a:tcPr marL="91425" marR="91425" marT="91425" marB="91425"/>
                </a:tc>
                <a:tc>
                  <a:txBody>
                    <a:bodyPr/>
                    <a:lstStyle/>
                    <a:p>
                      <a:pPr marL="0" lvl="0" indent="0" algn="r" rtl="0">
                        <a:lnSpc>
                          <a:spcPct val="115000"/>
                        </a:lnSpc>
                        <a:spcBef>
                          <a:spcPts val="0"/>
                        </a:spcBef>
                        <a:spcAft>
                          <a:spcPts val="0"/>
                        </a:spcAft>
                        <a:buNone/>
                      </a:pPr>
                      <a:r>
                        <a:rPr lang="en"/>
                        <a:t>37.58%</a:t>
                      </a:r>
                      <a:endParaRPr/>
                    </a:p>
                  </a:txBody>
                  <a:tcPr marL="91425" marR="91425" marT="91425" marB="91425"/>
                </a:tc>
                <a:tc>
                  <a:txBody>
                    <a:bodyPr/>
                    <a:lstStyle/>
                    <a:p>
                      <a:pPr marL="0" lvl="0" indent="0" algn="r" rtl="0">
                        <a:lnSpc>
                          <a:spcPct val="115000"/>
                        </a:lnSpc>
                        <a:spcBef>
                          <a:spcPts val="0"/>
                        </a:spcBef>
                        <a:spcAft>
                          <a:spcPts val="0"/>
                        </a:spcAft>
                        <a:buNone/>
                      </a:pPr>
                      <a:r>
                        <a:rPr lang="en"/>
                        <a:t>39.50%</a:t>
                      </a:r>
                      <a:endParaRPr/>
                    </a:p>
                  </a:txBody>
                  <a:tcPr marL="91425" marR="91425" marT="91425" marB="91425"/>
                </a:tc>
                <a:tc>
                  <a:txBody>
                    <a:bodyPr/>
                    <a:lstStyle/>
                    <a:p>
                      <a:pPr marL="0" lvl="0" indent="0" algn="r" rtl="0">
                        <a:lnSpc>
                          <a:spcPct val="115000"/>
                        </a:lnSpc>
                        <a:spcBef>
                          <a:spcPts val="0"/>
                        </a:spcBef>
                        <a:spcAft>
                          <a:spcPts val="0"/>
                        </a:spcAft>
                        <a:buNone/>
                      </a:pPr>
                      <a:r>
                        <a:rPr lang="en"/>
                        <a:t>65.92%</a:t>
                      </a:r>
                      <a:endParaRPr/>
                    </a:p>
                  </a:txBody>
                  <a:tcPr marL="91425" marR="91425" marT="91425" marB="91425"/>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a:t>Neural Network</a:t>
                      </a:r>
                      <a:endParaRPr/>
                    </a:p>
                  </a:txBody>
                  <a:tcPr marL="91425" marR="91425" marT="91425" marB="91425"/>
                </a:tc>
                <a:tc>
                  <a:txBody>
                    <a:bodyPr/>
                    <a:lstStyle/>
                    <a:p>
                      <a:pPr marL="0" lvl="0" indent="0" algn="r" rtl="0">
                        <a:lnSpc>
                          <a:spcPct val="115000"/>
                        </a:lnSpc>
                        <a:spcBef>
                          <a:spcPts val="0"/>
                        </a:spcBef>
                        <a:spcAft>
                          <a:spcPts val="0"/>
                        </a:spcAft>
                        <a:buNone/>
                      </a:pPr>
                      <a:r>
                        <a:rPr lang="en"/>
                        <a:t>80.80%</a:t>
                      </a:r>
                      <a:endParaRPr/>
                    </a:p>
                  </a:txBody>
                  <a:tcPr marL="91425" marR="91425" marT="91425" marB="91425"/>
                </a:tc>
                <a:tc>
                  <a:txBody>
                    <a:bodyPr/>
                    <a:lstStyle/>
                    <a:p>
                      <a:pPr marL="0" lvl="0" indent="0" algn="r" rtl="0">
                        <a:lnSpc>
                          <a:spcPct val="115000"/>
                        </a:lnSpc>
                        <a:spcBef>
                          <a:spcPts val="0"/>
                        </a:spcBef>
                        <a:spcAft>
                          <a:spcPts val="0"/>
                        </a:spcAft>
                        <a:buNone/>
                      </a:pPr>
                      <a:r>
                        <a:rPr lang="en"/>
                        <a:t>56.62%</a:t>
                      </a:r>
                      <a:endParaRPr/>
                    </a:p>
                  </a:txBody>
                  <a:tcPr marL="91425" marR="91425" marT="91425" marB="91425"/>
                </a:tc>
                <a:tc>
                  <a:txBody>
                    <a:bodyPr/>
                    <a:lstStyle/>
                    <a:p>
                      <a:pPr marL="0" lvl="0" indent="0" algn="r" rtl="0">
                        <a:lnSpc>
                          <a:spcPct val="115000"/>
                        </a:lnSpc>
                        <a:spcBef>
                          <a:spcPts val="0"/>
                        </a:spcBef>
                        <a:spcAft>
                          <a:spcPts val="0"/>
                        </a:spcAft>
                        <a:buNone/>
                      </a:pPr>
                      <a:r>
                        <a:rPr lang="en"/>
                        <a:t>10.78%</a:t>
                      </a:r>
                      <a:endParaRPr/>
                    </a:p>
                  </a:txBody>
                  <a:tcPr marL="91425" marR="91425" marT="91425" marB="91425"/>
                </a:tc>
                <a:tc>
                  <a:txBody>
                    <a:bodyPr/>
                    <a:lstStyle/>
                    <a:p>
                      <a:pPr marL="0" lvl="0" indent="0" algn="r" rtl="0">
                        <a:lnSpc>
                          <a:spcPct val="115000"/>
                        </a:lnSpc>
                        <a:spcBef>
                          <a:spcPts val="0"/>
                        </a:spcBef>
                        <a:spcAft>
                          <a:spcPts val="0"/>
                        </a:spcAft>
                        <a:buNone/>
                      </a:pPr>
                      <a:r>
                        <a:rPr lang="en"/>
                        <a:t>97.97%</a:t>
                      </a:r>
                      <a:endParaRPr/>
                    </a:p>
                  </a:txBody>
                  <a:tcPr marL="91425" marR="91425" marT="91425" marB="91425"/>
                </a:tc>
                <a:tc>
                  <a:txBody>
                    <a:bodyPr/>
                    <a:lstStyle/>
                    <a:p>
                      <a:pPr marL="0" lvl="0" indent="0" algn="r" rtl="0">
                        <a:lnSpc>
                          <a:spcPct val="115000"/>
                        </a:lnSpc>
                        <a:spcBef>
                          <a:spcPts val="0"/>
                        </a:spcBef>
                        <a:spcAft>
                          <a:spcPts val="0"/>
                        </a:spcAft>
                        <a:buNone/>
                      </a:pPr>
                      <a:r>
                        <a:rPr lang="en"/>
                        <a:t>18.11%</a:t>
                      </a:r>
                      <a:endParaRPr/>
                    </a:p>
                  </a:txBody>
                  <a:tcPr marL="91425" marR="91425" marT="91425" marB="91425"/>
                </a:tc>
                <a:tc>
                  <a:txBody>
                    <a:bodyPr/>
                    <a:lstStyle/>
                    <a:p>
                      <a:pPr marL="0" lvl="0" indent="0" algn="r" rtl="0">
                        <a:lnSpc>
                          <a:spcPct val="115000"/>
                        </a:lnSpc>
                        <a:spcBef>
                          <a:spcPts val="0"/>
                        </a:spcBef>
                        <a:spcAft>
                          <a:spcPts val="0"/>
                        </a:spcAft>
                        <a:buNone/>
                      </a:pPr>
                      <a:r>
                        <a:rPr lang="en"/>
                        <a:t>75.53%</a:t>
                      </a:r>
                      <a:endParaRPr/>
                    </a:p>
                  </a:txBody>
                  <a:tcPr marL="91425" marR="91425" marT="91425" marB="91425"/>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sz="1100" b="1"/>
                        <a:t>Classifier Model</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70.84%</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37.70%</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73.60%</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70.16%</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49.86%</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80.17%</a:t>
                      </a:r>
                      <a:endParaRPr sz="1100" b="1"/>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2321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Performance on BD testing with 5 models + ensemble</a:t>
            </a:r>
            <a:endParaRPr/>
          </a:p>
        </p:txBody>
      </p:sp>
      <p:graphicFrame>
        <p:nvGraphicFramePr>
          <p:cNvPr id="72" name="Google Shape;72;p16"/>
          <p:cNvGraphicFramePr/>
          <p:nvPr>
            <p:extLst>
              <p:ext uri="{D42A27DB-BD31-4B8C-83A1-F6EECF244321}">
                <p14:modId xmlns:p14="http://schemas.microsoft.com/office/powerpoint/2010/main" val="901780070"/>
              </p:ext>
            </p:extLst>
          </p:nvPr>
        </p:nvGraphicFramePr>
        <p:xfrm>
          <a:off x="115056" y="775876"/>
          <a:ext cx="8571742" cy="3987049"/>
        </p:xfrm>
        <a:graphic>
          <a:graphicData uri="http://schemas.openxmlformats.org/drawingml/2006/table">
            <a:tbl>
              <a:tblPr>
                <a:noFill/>
                <a:tableStyleId>{4E8D13D3-F409-40F9-8654-14557241AADC}</a:tableStyleId>
              </a:tblPr>
              <a:tblGrid>
                <a:gridCol w="1696779">
                  <a:extLst>
                    <a:ext uri="{9D8B030D-6E8A-4147-A177-3AD203B41FA5}">
                      <a16:colId xmlns:a16="http://schemas.microsoft.com/office/drawing/2014/main" val="20000"/>
                    </a:ext>
                  </a:extLst>
                </a:gridCol>
                <a:gridCol w="1168907">
                  <a:extLst>
                    <a:ext uri="{9D8B030D-6E8A-4147-A177-3AD203B41FA5}">
                      <a16:colId xmlns:a16="http://schemas.microsoft.com/office/drawing/2014/main" val="20001"/>
                    </a:ext>
                  </a:extLst>
                </a:gridCol>
                <a:gridCol w="842079">
                  <a:extLst>
                    <a:ext uri="{9D8B030D-6E8A-4147-A177-3AD203B41FA5}">
                      <a16:colId xmlns:a16="http://schemas.microsoft.com/office/drawing/2014/main" val="20002"/>
                    </a:ext>
                  </a:extLst>
                </a:gridCol>
                <a:gridCol w="816944">
                  <a:extLst>
                    <a:ext uri="{9D8B030D-6E8A-4147-A177-3AD203B41FA5}">
                      <a16:colId xmlns:a16="http://schemas.microsoft.com/office/drawing/2014/main" val="20003"/>
                    </a:ext>
                  </a:extLst>
                </a:gridCol>
                <a:gridCol w="678682">
                  <a:extLst>
                    <a:ext uri="{9D8B030D-6E8A-4147-A177-3AD203B41FA5}">
                      <a16:colId xmlns:a16="http://schemas.microsoft.com/office/drawing/2014/main" val="20004"/>
                    </a:ext>
                  </a:extLst>
                </a:gridCol>
                <a:gridCol w="917538">
                  <a:extLst>
                    <a:ext uri="{9D8B030D-6E8A-4147-A177-3AD203B41FA5}">
                      <a16:colId xmlns:a16="http://schemas.microsoft.com/office/drawing/2014/main" val="20005"/>
                    </a:ext>
                  </a:extLst>
                </a:gridCol>
                <a:gridCol w="678682">
                  <a:extLst>
                    <a:ext uri="{9D8B030D-6E8A-4147-A177-3AD203B41FA5}">
                      <a16:colId xmlns:a16="http://schemas.microsoft.com/office/drawing/2014/main" val="20006"/>
                    </a:ext>
                  </a:extLst>
                </a:gridCol>
                <a:gridCol w="980340">
                  <a:extLst>
                    <a:ext uri="{9D8B030D-6E8A-4147-A177-3AD203B41FA5}">
                      <a16:colId xmlns:a16="http://schemas.microsoft.com/office/drawing/2014/main" val="20007"/>
                    </a:ext>
                  </a:extLst>
                </a:gridCol>
                <a:gridCol w="791791">
                  <a:extLst>
                    <a:ext uri="{9D8B030D-6E8A-4147-A177-3AD203B41FA5}">
                      <a16:colId xmlns:a16="http://schemas.microsoft.com/office/drawing/2014/main" val="20008"/>
                    </a:ext>
                  </a:extLst>
                </a:gridCol>
              </a:tblGrid>
              <a:tr h="361807">
                <a:tc>
                  <a:txBody>
                    <a:bodyPr/>
                    <a:lstStyle/>
                    <a:p>
                      <a:pPr marL="0" lvl="0" indent="0" algn="ctr" rtl="0">
                        <a:lnSpc>
                          <a:spcPct val="115000"/>
                        </a:lnSpc>
                        <a:spcBef>
                          <a:spcPts val="0"/>
                        </a:spcBef>
                        <a:spcAft>
                          <a:spcPts val="0"/>
                        </a:spcAft>
                        <a:buNone/>
                      </a:pPr>
                      <a:r>
                        <a:rPr lang="en" sz="1100" b="1"/>
                        <a:t>Model</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dirty="0"/>
                        <a:t>Threshold</a:t>
                      </a:r>
                      <a:endParaRPr sz="1100" b="1" dirty="0"/>
                    </a:p>
                  </a:txBody>
                  <a:tcPr marL="91425" marR="91425" marT="91425" marB="91425"/>
                </a:tc>
                <a:tc>
                  <a:txBody>
                    <a:bodyPr/>
                    <a:lstStyle/>
                    <a:p>
                      <a:pPr marL="0" lvl="0" indent="0" algn="r" rtl="0">
                        <a:lnSpc>
                          <a:spcPct val="115000"/>
                        </a:lnSpc>
                        <a:spcBef>
                          <a:spcPts val="0"/>
                        </a:spcBef>
                        <a:spcAft>
                          <a:spcPts val="0"/>
                        </a:spcAft>
                        <a:buNone/>
                      </a:pPr>
                      <a:r>
                        <a:rPr lang="en" sz="1100" b="1"/>
                        <a:t>Accuracy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Precision</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Recall</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Specificity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F1</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ROC-AUC</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PR-AUC</a:t>
                      </a:r>
                      <a:endParaRPr sz="1100" b="1"/>
                    </a:p>
                  </a:txBody>
                  <a:tcPr marL="91425" marR="91425" marT="91425" marB="91425"/>
                </a:tc>
                <a:extLst>
                  <a:ext uri="{0D108BD9-81ED-4DB2-BD59-A6C34878D82A}">
                    <a16:rowId xmlns:a16="http://schemas.microsoft.com/office/drawing/2014/main" val="10000"/>
                  </a:ext>
                </a:extLst>
              </a:tr>
              <a:tr h="649625">
                <a:tc>
                  <a:txBody>
                    <a:bodyPr/>
                    <a:lstStyle/>
                    <a:p>
                      <a:pPr marL="0" lvl="0" indent="0" algn="l" rtl="0">
                        <a:spcBef>
                          <a:spcPts val="0"/>
                        </a:spcBef>
                        <a:spcAft>
                          <a:spcPts val="0"/>
                        </a:spcAft>
                        <a:buNone/>
                      </a:pPr>
                      <a:r>
                        <a:rPr lang="en"/>
                        <a:t>SVM</a:t>
                      </a:r>
                      <a:endParaRPr/>
                    </a:p>
                  </a:txBody>
                  <a:tcPr marL="91425" marR="91425" marT="91425" marB="91425"/>
                </a:tc>
                <a:tc>
                  <a:txBody>
                    <a:bodyPr/>
                    <a:lstStyle/>
                    <a:p>
                      <a:pPr marL="0" lvl="0" indent="0" algn="l" rtl="0">
                        <a:spcBef>
                          <a:spcPts val="0"/>
                        </a:spcBef>
                        <a:spcAft>
                          <a:spcPts val="0"/>
                        </a:spcAft>
                        <a:buNone/>
                      </a:pPr>
                      <a:r>
                        <a:rPr lang="en" sz="1100" b="1"/>
                        <a:t>Tuned 0.1795</a:t>
                      </a:r>
                      <a:endParaRPr sz="1100" b="1"/>
                    </a:p>
                  </a:txBody>
                  <a:tcPr marL="91425" marR="91425" marT="91425" marB="91425"/>
                </a:tc>
                <a:tc>
                  <a:txBody>
                    <a:bodyPr/>
                    <a:lstStyle/>
                    <a:p>
                      <a:pPr marL="0" lvl="0" indent="0" algn="r" rtl="0">
                        <a:lnSpc>
                          <a:spcPct val="115000"/>
                        </a:lnSpc>
                        <a:spcBef>
                          <a:spcPts val="0"/>
                        </a:spcBef>
                        <a:spcAft>
                          <a:spcPts val="0"/>
                        </a:spcAft>
                        <a:buNone/>
                      </a:pPr>
                      <a:r>
                        <a:rPr lang="en"/>
                        <a:t>43.56%</a:t>
                      </a:r>
                      <a:endParaRPr/>
                    </a:p>
                  </a:txBody>
                  <a:tcPr marL="91425" marR="91425" marT="91425" marB="91425"/>
                </a:tc>
                <a:tc>
                  <a:txBody>
                    <a:bodyPr/>
                    <a:lstStyle/>
                    <a:p>
                      <a:pPr marL="0" lvl="0" indent="0" algn="r" rtl="0">
                        <a:lnSpc>
                          <a:spcPct val="115000"/>
                        </a:lnSpc>
                        <a:spcBef>
                          <a:spcPts val="0"/>
                        </a:spcBef>
                        <a:spcAft>
                          <a:spcPts val="0"/>
                        </a:spcAft>
                        <a:buNone/>
                      </a:pPr>
                      <a:r>
                        <a:rPr lang="en"/>
                        <a:t>28.11%</a:t>
                      </a:r>
                      <a:endParaRPr/>
                    </a:p>
                  </a:txBody>
                  <a:tcPr marL="91425" marR="91425" marT="91425" marB="91425"/>
                </a:tc>
                <a:tc>
                  <a:txBody>
                    <a:bodyPr/>
                    <a:lstStyle/>
                    <a:p>
                      <a:pPr marL="0" lvl="0" indent="0" algn="r" rtl="0">
                        <a:lnSpc>
                          <a:spcPct val="115000"/>
                        </a:lnSpc>
                        <a:spcBef>
                          <a:spcPts val="0"/>
                        </a:spcBef>
                        <a:spcAft>
                          <a:spcPts val="0"/>
                        </a:spcAft>
                        <a:buNone/>
                      </a:pPr>
                      <a:r>
                        <a:rPr lang="en" sz="1100" b="1"/>
                        <a:t>79.74%</a:t>
                      </a:r>
                      <a:endParaRPr sz="1100" b="1"/>
                    </a:p>
                  </a:txBody>
                  <a:tcPr marL="91425" marR="91425" marT="91425" marB="91425"/>
                </a:tc>
                <a:tc>
                  <a:txBody>
                    <a:bodyPr/>
                    <a:lstStyle/>
                    <a:p>
                      <a:pPr marL="0" lvl="0" indent="0" algn="r" rtl="0">
                        <a:lnSpc>
                          <a:spcPct val="115000"/>
                        </a:lnSpc>
                        <a:spcBef>
                          <a:spcPts val="0"/>
                        </a:spcBef>
                        <a:spcAft>
                          <a:spcPts val="0"/>
                        </a:spcAft>
                        <a:buNone/>
                      </a:pPr>
                      <a:r>
                        <a:rPr lang="en"/>
                        <a:t>79.74%</a:t>
                      </a:r>
                      <a:endParaRPr/>
                    </a:p>
                  </a:txBody>
                  <a:tcPr marL="91425" marR="91425" marT="91425" marB="91425"/>
                </a:tc>
                <a:tc>
                  <a:txBody>
                    <a:bodyPr/>
                    <a:lstStyle/>
                    <a:p>
                      <a:pPr marL="0" lvl="0" indent="0" algn="r" rtl="0">
                        <a:lnSpc>
                          <a:spcPct val="115000"/>
                        </a:lnSpc>
                        <a:spcBef>
                          <a:spcPts val="0"/>
                        </a:spcBef>
                        <a:spcAft>
                          <a:spcPts val="0"/>
                        </a:spcAft>
                        <a:buNone/>
                      </a:pPr>
                      <a:r>
                        <a:rPr lang="en"/>
                        <a:t>31.38%</a:t>
                      </a:r>
                      <a:endParaRPr/>
                    </a:p>
                  </a:txBody>
                  <a:tcPr marL="91425" marR="91425" marT="91425" marB="91425"/>
                </a:tc>
                <a:tc>
                  <a:txBody>
                    <a:bodyPr/>
                    <a:lstStyle/>
                    <a:p>
                      <a:pPr marL="0" lvl="0" indent="0" algn="r" rtl="0">
                        <a:lnSpc>
                          <a:spcPct val="115000"/>
                        </a:lnSpc>
                        <a:spcBef>
                          <a:spcPts val="0"/>
                        </a:spcBef>
                        <a:spcAft>
                          <a:spcPts val="0"/>
                        </a:spcAft>
                        <a:buNone/>
                      </a:pPr>
                      <a:r>
                        <a:rPr lang="en"/>
                        <a:t>61.53%</a:t>
                      </a:r>
                      <a:endParaRPr/>
                    </a:p>
                  </a:txBody>
                  <a:tcPr marL="91425" marR="91425" marT="91425" marB="91425"/>
                </a:tc>
                <a:tc>
                  <a:txBody>
                    <a:bodyPr/>
                    <a:lstStyle/>
                    <a:p>
                      <a:pPr marL="0" lvl="0" indent="0" algn="r" rtl="0">
                        <a:lnSpc>
                          <a:spcPct val="115000"/>
                        </a:lnSpc>
                        <a:spcBef>
                          <a:spcPts val="0"/>
                        </a:spcBef>
                        <a:spcAft>
                          <a:spcPts val="0"/>
                        </a:spcAft>
                        <a:buNone/>
                      </a:pPr>
                      <a:r>
                        <a:rPr lang="en"/>
                        <a:t>31.57%</a:t>
                      </a:r>
                      <a:endParaRPr/>
                    </a:p>
                  </a:txBody>
                  <a:tcPr marL="91425" marR="91425" marT="91425" marB="91425"/>
                </a:tc>
                <a:extLst>
                  <a:ext uri="{0D108BD9-81ED-4DB2-BD59-A6C34878D82A}">
                    <a16:rowId xmlns:a16="http://schemas.microsoft.com/office/drawing/2014/main" val="10001"/>
                  </a:ext>
                </a:extLst>
              </a:tr>
              <a:tr h="649625">
                <a:tc>
                  <a:txBody>
                    <a:bodyPr/>
                    <a:lstStyle/>
                    <a:p>
                      <a:pPr marL="0" lvl="0" indent="0" algn="l" rtl="0">
                        <a:spcBef>
                          <a:spcPts val="0"/>
                        </a:spcBef>
                        <a:spcAft>
                          <a:spcPts val="0"/>
                        </a:spcAft>
                        <a:buNone/>
                      </a:pPr>
                      <a:r>
                        <a:rPr lang="en"/>
                        <a:t>Random Forest</a:t>
                      </a:r>
                      <a:endParaRPr/>
                    </a:p>
                  </a:txBody>
                  <a:tcPr marL="91425" marR="91425" marT="91425" marB="91425"/>
                </a:tc>
                <a:tc>
                  <a:txBody>
                    <a:bodyPr/>
                    <a:lstStyle/>
                    <a:p>
                      <a:pPr marL="0" lvl="0" indent="0" algn="l" rtl="0">
                        <a:spcBef>
                          <a:spcPts val="0"/>
                        </a:spcBef>
                        <a:spcAft>
                          <a:spcPts val="0"/>
                        </a:spcAft>
                        <a:buNone/>
                      </a:pPr>
                      <a:r>
                        <a:rPr lang="en" sz="1100" b="1"/>
                        <a:t>Tuned 0.1795</a:t>
                      </a:r>
                      <a:endParaRPr sz="1100" b="1"/>
                    </a:p>
                  </a:txBody>
                  <a:tcPr marL="91425" marR="91425" marT="91425" marB="91425"/>
                </a:tc>
                <a:tc>
                  <a:txBody>
                    <a:bodyPr/>
                    <a:lstStyle/>
                    <a:p>
                      <a:pPr marL="0" lvl="0" indent="0" algn="r" rtl="0">
                        <a:lnSpc>
                          <a:spcPct val="115000"/>
                        </a:lnSpc>
                        <a:spcBef>
                          <a:spcPts val="0"/>
                        </a:spcBef>
                        <a:spcAft>
                          <a:spcPts val="0"/>
                        </a:spcAft>
                        <a:buNone/>
                      </a:pPr>
                      <a:r>
                        <a:rPr lang="en"/>
                        <a:t>55.85%</a:t>
                      </a:r>
                      <a:endParaRPr/>
                    </a:p>
                  </a:txBody>
                  <a:tcPr marL="91425" marR="91425" marT="91425" marB="91425"/>
                </a:tc>
                <a:tc>
                  <a:txBody>
                    <a:bodyPr/>
                    <a:lstStyle/>
                    <a:p>
                      <a:pPr marL="0" lvl="0" indent="0" algn="r" rtl="0">
                        <a:lnSpc>
                          <a:spcPct val="115000"/>
                        </a:lnSpc>
                        <a:spcBef>
                          <a:spcPts val="0"/>
                        </a:spcBef>
                        <a:spcAft>
                          <a:spcPts val="0"/>
                        </a:spcAft>
                        <a:buNone/>
                      </a:pPr>
                      <a:r>
                        <a:rPr lang="en"/>
                        <a:t>32.23%</a:t>
                      </a:r>
                      <a:endParaRPr/>
                    </a:p>
                  </a:txBody>
                  <a:tcPr marL="91425" marR="91425" marT="91425" marB="91425"/>
                </a:tc>
                <a:tc>
                  <a:txBody>
                    <a:bodyPr/>
                    <a:lstStyle/>
                    <a:p>
                      <a:pPr marL="0" lvl="0" indent="0" algn="r" rtl="0">
                        <a:lnSpc>
                          <a:spcPct val="115000"/>
                        </a:lnSpc>
                        <a:spcBef>
                          <a:spcPts val="0"/>
                        </a:spcBef>
                        <a:spcAft>
                          <a:spcPts val="0"/>
                        </a:spcAft>
                        <a:buNone/>
                      </a:pPr>
                      <a:r>
                        <a:rPr lang="en" sz="1100" b="1"/>
                        <a:t>68.31%</a:t>
                      </a:r>
                      <a:endParaRPr sz="1100" b="1"/>
                    </a:p>
                  </a:txBody>
                  <a:tcPr marL="91425" marR="91425" marT="91425" marB="91425"/>
                </a:tc>
                <a:tc>
                  <a:txBody>
                    <a:bodyPr/>
                    <a:lstStyle/>
                    <a:p>
                      <a:pPr marL="0" lvl="0" indent="0" algn="r" rtl="0">
                        <a:lnSpc>
                          <a:spcPct val="115000"/>
                        </a:lnSpc>
                        <a:spcBef>
                          <a:spcPts val="0"/>
                        </a:spcBef>
                        <a:spcAft>
                          <a:spcPts val="0"/>
                        </a:spcAft>
                        <a:buNone/>
                      </a:pPr>
                      <a:r>
                        <a:rPr lang="en"/>
                        <a:t>68.31%</a:t>
                      </a:r>
                      <a:endParaRPr/>
                    </a:p>
                  </a:txBody>
                  <a:tcPr marL="91425" marR="91425" marT="91425" marB="91425"/>
                </a:tc>
                <a:tc>
                  <a:txBody>
                    <a:bodyPr/>
                    <a:lstStyle/>
                    <a:p>
                      <a:pPr marL="0" lvl="0" indent="0" algn="r" rtl="0">
                        <a:lnSpc>
                          <a:spcPct val="115000"/>
                        </a:lnSpc>
                        <a:spcBef>
                          <a:spcPts val="0"/>
                        </a:spcBef>
                        <a:spcAft>
                          <a:spcPts val="0"/>
                        </a:spcAft>
                        <a:buNone/>
                      </a:pPr>
                      <a:r>
                        <a:rPr lang="en"/>
                        <a:t>51.66%</a:t>
                      </a:r>
                      <a:endParaRPr/>
                    </a:p>
                  </a:txBody>
                  <a:tcPr marL="91425" marR="91425" marT="91425" marB="91425"/>
                </a:tc>
                <a:tc>
                  <a:txBody>
                    <a:bodyPr/>
                    <a:lstStyle/>
                    <a:p>
                      <a:pPr marL="0" lvl="0" indent="0" algn="r" rtl="0">
                        <a:lnSpc>
                          <a:spcPct val="115000"/>
                        </a:lnSpc>
                        <a:spcBef>
                          <a:spcPts val="0"/>
                        </a:spcBef>
                        <a:spcAft>
                          <a:spcPts val="0"/>
                        </a:spcAft>
                        <a:buNone/>
                      </a:pPr>
                      <a:r>
                        <a:rPr lang="en"/>
                        <a:t>65.91%</a:t>
                      </a:r>
                      <a:endParaRPr/>
                    </a:p>
                  </a:txBody>
                  <a:tcPr marL="91425" marR="91425" marT="91425" marB="91425"/>
                </a:tc>
                <a:tc>
                  <a:txBody>
                    <a:bodyPr/>
                    <a:lstStyle/>
                    <a:p>
                      <a:pPr marL="0" lvl="0" indent="0" algn="r" rtl="0">
                        <a:lnSpc>
                          <a:spcPct val="115000"/>
                        </a:lnSpc>
                        <a:spcBef>
                          <a:spcPts val="0"/>
                        </a:spcBef>
                        <a:spcAft>
                          <a:spcPts val="0"/>
                        </a:spcAft>
                        <a:buNone/>
                      </a:pPr>
                      <a:r>
                        <a:rPr lang="en"/>
                        <a:t>36.35%</a:t>
                      </a:r>
                      <a:endParaRPr/>
                    </a:p>
                  </a:txBody>
                  <a:tcPr marL="91425" marR="91425" marT="91425" marB="91425"/>
                </a:tc>
                <a:extLst>
                  <a:ext uri="{0D108BD9-81ED-4DB2-BD59-A6C34878D82A}">
                    <a16:rowId xmlns:a16="http://schemas.microsoft.com/office/drawing/2014/main" val="10002"/>
                  </a:ext>
                </a:extLst>
              </a:tr>
              <a:tr h="649625">
                <a:tc>
                  <a:txBody>
                    <a:bodyPr/>
                    <a:lstStyle/>
                    <a:p>
                      <a:pPr marL="0" lvl="0" indent="0" algn="l" rtl="0">
                        <a:spcBef>
                          <a:spcPts val="0"/>
                        </a:spcBef>
                        <a:spcAft>
                          <a:spcPts val="0"/>
                        </a:spcAft>
                        <a:buNone/>
                      </a:pPr>
                      <a:r>
                        <a:rPr lang="en"/>
                        <a:t>KNN</a:t>
                      </a:r>
                      <a:endParaRPr/>
                    </a:p>
                  </a:txBody>
                  <a:tcPr marL="91425" marR="91425" marT="91425" marB="91425"/>
                </a:tc>
                <a:tc>
                  <a:txBody>
                    <a:bodyPr/>
                    <a:lstStyle/>
                    <a:p>
                      <a:pPr marL="0" lvl="0" indent="0" algn="l" rtl="0">
                        <a:spcBef>
                          <a:spcPts val="0"/>
                        </a:spcBef>
                        <a:spcAft>
                          <a:spcPts val="0"/>
                        </a:spcAft>
                        <a:buNone/>
                      </a:pPr>
                      <a:r>
                        <a:rPr lang="en" sz="1100" b="1"/>
                        <a:t>Tuned 0.1795</a:t>
                      </a:r>
                      <a:endParaRPr sz="1100" b="1"/>
                    </a:p>
                  </a:txBody>
                  <a:tcPr marL="91425" marR="91425" marT="91425" marB="91425"/>
                </a:tc>
                <a:tc>
                  <a:txBody>
                    <a:bodyPr/>
                    <a:lstStyle/>
                    <a:p>
                      <a:pPr marL="0" lvl="0" indent="0" algn="r" rtl="0">
                        <a:lnSpc>
                          <a:spcPct val="115000"/>
                        </a:lnSpc>
                        <a:spcBef>
                          <a:spcPts val="0"/>
                        </a:spcBef>
                        <a:spcAft>
                          <a:spcPts val="0"/>
                        </a:spcAft>
                        <a:buNone/>
                      </a:pPr>
                      <a:r>
                        <a:rPr lang="en"/>
                        <a:t>60.30%</a:t>
                      </a:r>
                      <a:endParaRPr/>
                    </a:p>
                  </a:txBody>
                  <a:tcPr marL="91425" marR="91425" marT="91425" marB="91425"/>
                </a:tc>
                <a:tc>
                  <a:txBody>
                    <a:bodyPr/>
                    <a:lstStyle/>
                    <a:p>
                      <a:pPr marL="0" lvl="0" indent="0" algn="r" rtl="0">
                        <a:lnSpc>
                          <a:spcPct val="115000"/>
                        </a:lnSpc>
                        <a:spcBef>
                          <a:spcPts val="0"/>
                        </a:spcBef>
                        <a:spcAft>
                          <a:spcPts val="0"/>
                        </a:spcAft>
                        <a:buNone/>
                      </a:pPr>
                      <a:r>
                        <a:rPr lang="en"/>
                        <a:t>34.01%</a:t>
                      </a:r>
                      <a:endParaRPr/>
                    </a:p>
                  </a:txBody>
                  <a:tcPr marL="91425" marR="91425" marT="91425" marB="91425"/>
                </a:tc>
                <a:tc>
                  <a:txBody>
                    <a:bodyPr/>
                    <a:lstStyle/>
                    <a:p>
                      <a:pPr marL="0" lvl="0" indent="0" algn="r" rtl="0">
                        <a:lnSpc>
                          <a:spcPct val="115000"/>
                        </a:lnSpc>
                        <a:spcBef>
                          <a:spcPts val="0"/>
                        </a:spcBef>
                        <a:spcAft>
                          <a:spcPts val="0"/>
                        </a:spcAft>
                        <a:buNone/>
                      </a:pPr>
                      <a:r>
                        <a:rPr lang="en" sz="1100" b="1"/>
                        <a:t>61.30%</a:t>
                      </a:r>
                      <a:endParaRPr sz="1100" b="1"/>
                    </a:p>
                  </a:txBody>
                  <a:tcPr marL="91425" marR="91425" marT="91425" marB="91425"/>
                </a:tc>
                <a:tc>
                  <a:txBody>
                    <a:bodyPr/>
                    <a:lstStyle/>
                    <a:p>
                      <a:pPr marL="0" lvl="0" indent="0" algn="r" rtl="0">
                        <a:lnSpc>
                          <a:spcPct val="115000"/>
                        </a:lnSpc>
                        <a:spcBef>
                          <a:spcPts val="0"/>
                        </a:spcBef>
                        <a:spcAft>
                          <a:spcPts val="0"/>
                        </a:spcAft>
                        <a:buNone/>
                      </a:pPr>
                      <a:r>
                        <a:rPr lang="en"/>
                        <a:t>59.97%</a:t>
                      </a:r>
                      <a:endParaRPr/>
                    </a:p>
                  </a:txBody>
                  <a:tcPr marL="91425" marR="91425" marT="91425" marB="91425"/>
                </a:tc>
                <a:tc>
                  <a:txBody>
                    <a:bodyPr/>
                    <a:lstStyle/>
                    <a:p>
                      <a:pPr marL="0" lvl="0" indent="0" algn="r" rtl="0">
                        <a:lnSpc>
                          <a:spcPct val="115000"/>
                        </a:lnSpc>
                        <a:spcBef>
                          <a:spcPts val="0"/>
                        </a:spcBef>
                        <a:spcAft>
                          <a:spcPts val="0"/>
                        </a:spcAft>
                        <a:buNone/>
                      </a:pPr>
                      <a:r>
                        <a:rPr lang="en"/>
                        <a:t>43.74%</a:t>
                      </a:r>
                      <a:endParaRPr/>
                    </a:p>
                  </a:txBody>
                  <a:tcPr marL="91425" marR="91425" marT="91425" marB="91425"/>
                </a:tc>
                <a:tc>
                  <a:txBody>
                    <a:bodyPr/>
                    <a:lstStyle/>
                    <a:p>
                      <a:pPr marL="0" lvl="0" indent="0" algn="r" rtl="0">
                        <a:lnSpc>
                          <a:spcPct val="115000"/>
                        </a:lnSpc>
                        <a:spcBef>
                          <a:spcPts val="0"/>
                        </a:spcBef>
                        <a:spcAft>
                          <a:spcPts val="0"/>
                        </a:spcAft>
                        <a:buNone/>
                      </a:pPr>
                      <a:r>
                        <a:rPr lang="en"/>
                        <a:t>65.28%</a:t>
                      </a:r>
                      <a:endParaRPr/>
                    </a:p>
                  </a:txBody>
                  <a:tcPr marL="91425" marR="91425" marT="91425" marB="91425"/>
                </a:tc>
                <a:tc>
                  <a:txBody>
                    <a:bodyPr/>
                    <a:lstStyle/>
                    <a:p>
                      <a:pPr marL="0" lvl="0" indent="0" algn="r" rtl="0">
                        <a:lnSpc>
                          <a:spcPct val="115000"/>
                        </a:lnSpc>
                        <a:spcBef>
                          <a:spcPts val="0"/>
                        </a:spcBef>
                        <a:spcAft>
                          <a:spcPts val="0"/>
                        </a:spcAft>
                        <a:buNone/>
                      </a:pPr>
                      <a:r>
                        <a:rPr lang="en"/>
                        <a:t>34.91%</a:t>
                      </a:r>
                      <a:endParaRPr/>
                    </a:p>
                  </a:txBody>
                  <a:tcPr marL="91425" marR="91425" marT="91425" marB="91425"/>
                </a:tc>
                <a:extLst>
                  <a:ext uri="{0D108BD9-81ED-4DB2-BD59-A6C34878D82A}">
                    <a16:rowId xmlns:a16="http://schemas.microsoft.com/office/drawing/2014/main" val="10003"/>
                  </a:ext>
                </a:extLst>
              </a:tr>
              <a:tr h="649625">
                <a:tc>
                  <a:txBody>
                    <a:bodyPr/>
                    <a:lstStyle/>
                    <a:p>
                      <a:pPr marL="0" lvl="0" indent="0" algn="l" rtl="0">
                        <a:spcBef>
                          <a:spcPts val="0"/>
                        </a:spcBef>
                        <a:spcAft>
                          <a:spcPts val="0"/>
                        </a:spcAft>
                        <a:buNone/>
                      </a:pPr>
                      <a:r>
                        <a:rPr lang="en"/>
                        <a:t>Logistic Regression</a:t>
                      </a:r>
                      <a:endParaRPr/>
                    </a:p>
                  </a:txBody>
                  <a:tcPr marL="91425" marR="91425" marT="91425" marB="91425"/>
                </a:tc>
                <a:tc>
                  <a:txBody>
                    <a:bodyPr/>
                    <a:lstStyle/>
                    <a:p>
                      <a:pPr marL="0" lvl="0" indent="0" algn="l" rtl="0">
                        <a:spcBef>
                          <a:spcPts val="0"/>
                        </a:spcBef>
                        <a:spcAft>
                          <a:spcPts val="0"/>
                        </a:spcAft>
                        <a:buNone/>
                      </a:pPr>
                      <a:r>
                        <a:rPr lang="en" sz="1100" b="1"/>
                        <a:t>Tuned 0.1795</a:t>
                      </a:r>
                      <a:endParaRPr sz="1100" b="1"/>
                    </a:p>
                  </a:txBody>
                  <a:tcPr marL="91425" marR="91425" marT="91425" marB="91425"/>
                </a:tc>
                <a:tc>
                  <a:txBody>
                    <a:bodyPr/>
                    <a:lstStyle/>
                    <a:p>
                      <a:pPr marL="0" lvl="0" indent="0" algn="r" rtl="0">
                        <a:lnSpc>
                          <a:spcPct val="115000"/>
                        </a:lnSpc>
                        <a:spcBef>
                          <a:spcPts val="0"/>
                        </a:spcBef>
                        <a:spcAft>
                          <a:spcPts val="0"/>
                        </a:spcAft>
                        <a:buNone/>
                      </a:pPr>
                      <a:r>
                        <a:rPr lang="en"/>
                        <a:t>56.25%</a:t>
                      </a:r>
                      <a:endParaRPr/>
                    </a:p>
                  </a:txBody>
                  <a:tcPr marL="91425" marR="91425" marT="91425" marB="91425"/>
                </a:tc>
                <a:tc>
                  <a:txBody>
                    <a:bodyPr/>
                    <a:lstStyle/>
                    <a:p>
                      <a:pPr marL="0" lvl="0" indent="0" algn="r" rtl="0">
                        <a:lnSpc>
                          <a:spcPct val="115000"/>
                        </a:lnSpc>
                        <a:spcBef>
                          <a:spcPts val="0"/>
                        </a:spcBef>
                        <a:spcAft>
                          <a:spcPts val="0"/>
                        </a:spcAft>
                        <a:buNone/>
                      </a:pPr>
                      <a:r>
                        <a:rPr lang="en"/>
                        <a:t>33.41%</a:t>
                      </a:r>
                      <a:endParaRPr/>
                    </a:p>
                  </a:txBody>
                  <a:tcPr marL="91425" marR="91425" marT="91425" marB="91425"/>
                </a:tc>
                <a:tc>
                  <a:txBody>
                    <a:bodyPr/>
                    <a:lstStyle/>
                    <a:p>
                      <a:pPr marL="0" lvl="0" indent="0" algn="r" rtl="0">
                        <a:lnSpc>
                          <a:spcPct val="115000"/>
                        </a:lnSpc>
                        <a:spcBef>
                          <a:spcPts val="0"/>
                        </a:spcBef>
                        <a:spcAft>
                          <a:spcPts val="0"/>
                        </a:spcAft>
                        <a:buNone/>
                      </a:pPr>
                      <a:r>
                        <a:rPr lang="en" sz="1100" b="1"/>
                        <a:t>74.29%</a:t>
                      </a:r>
                      <a:endParaRPr sz="1100" b="1"/>
                    </a:p>
                  </a:txBody>
                  <a:tcPr marL="91425" marR="91425" marT="91425" marB="91425"/>
                </a:tc>
                <a:tc>
                  <a:txBody>
                    <a:bodyPr/>
                    <a:lstStyle/>
                    <a:p>
                      <a:pPr marL="0" lvl="0" indent="0" algn="r" rtl="0">
                        <a:lnSpc>
                          <a:spcPct val="115000"/>
                        </a:lnSpc>
                        <a:spcBef>
                          <a:spcPts val="0"/>
                        </a:spcBef>
                        <a:spcAft>
                          <a:spcPts val="0"/>
                        </a:spcAft>
                        <a:buNone/>
                      </a:pPr>
                      <a:r>
                        <a:rPr lang="en"/>
                        <a:t>50.17%</a:t>
                      </a:r>
                      <a:endParaRPr/>
                    </a:p>
                  </a:txBody>
                  <a:tcPr marL="91425" marR="91425" marT="91425" marB="91425"/>
                </a:tc>
                <a:tc>
                  <a:txBody>
                    <a:bodyPr/>
                    <a:lstStyle/>
                    <a:p>
                      <a:pPr marL="0" lvl="0" indent="0" algn="r" rtl="0">
                        <a:lnSpc>
                          <a:spcPct val="115000"/>
                        </a:lnSpc>
                        <a:spcBef>
                          <a:spcPts val="0"/>
                        </a:spcBef>
                        <a:spcAft>
                          <a:spcPts val="0"/>
                        </a:spcAft>
                        <a:buNone/>
                      </a:pPr>
                      <a:r>
                        <a:rPr lang="en"/>
                        <a:t>46.09%</a:t>
                      </a:r>
                      <a:endParaRPr/>
                    </a:p>
                  </a:txBody>
                  <a:tcPr marL="91425" marR="91425" marT="91425" marB="91425"/>
                </a:tc>
                <a:tc>
                  <a:txBody>
                    <a:bodyPr/>
                    <a:lstStyle/>
                    <a:p>
                      <a:pPr marL="0" lvl="0" indent="0" algn="r" rtl="0">
                        <a:lnSpc>
                          <a:spcPct val="115000"/>
                        </a:lnSpc>
                        <a:spcBef>
                          <a:spcPts val="0"/>
                        </a:spcBef>
                        <a:spcAft>
                          <a:spcPts val="0"/>
                        </a:spcAft>
                        <a:buNone/>
                      </a:pPr>
                      <a:r>
                        <a:rPr lang="en"/>
                        <a:t>67.45%</a:t>
                      </a:r>
                      <a:endParaRPr/>
                    </a:p>
                  </a:txBody>
                  <a:tcPr marL="91425" marR="91425" marT="91425" marB="91425"/>
                </a:tc>
                <a:tc>
                  <a:txBody>
                    <a:bodyPr/>
                    <a:lstStyle/>
                    <a:p>
                      <a:pPr marL="0" lvl="0" indent="0" algn="r" rtl="0">
                        <a:lnSpc>
                          <a:spcPct val="115000"/>
                        </a:lnSpc>
                        <a:spcBef>
                          <a:spcPts val="0"/>
                        </a:spcBef>
                        <a:spcAft>
                          <a:spcPts val="0"/>
                        </a:spcAft>
                        <a:buNone/>
                      </a:pPr>
                      <a:r>
                        <a:rPr lang="en"/>
                        <a:t>40.89%</a:t>
                      </a:r>
                      <a:endParaRPr/>
                    </a:p>
                  </a:txBody>
                  <a:tcPr marL="91425" marR="91425" marT="91425" marB="91425"/>
                </a:tc>
                <a:extLst>
                  <a:ext uri="{0D108BD9-81ED-4DB2-BD59-A6C34878D82A}">
                    <a16:rowId xmlns:a16="http://schemas.microsoft.com/office/drawing/2014/main" val="10004"/>
                  </a:ext>
                </a:extLst>
              </a:tr>
              <a:tr h="649625">
                <a:tc>
                  <a:txBody>
                    <a:bodyPr/>
                    <a:lstStyle/>
                    <a:p>
                      <a:pPr marL="0" lvl="0" indent="0" algn="l" rtl="0">
                        <a:spcBef>
                          <a:spcPts val="0"/>
                        </a:spcBef>
                        <a:spcAft>
                          <a:spcPts val="0"/>
                        </a:spcAft>
                        <a:buNone/>
                      </a:pPr>
                      <a:r>
                        <a:rPr lang="en"/>
                        <a:t>Neural Network</a:t>
                      </a:r>
                      <a:endParaRPr/>
                    </a:p>
                  </a:txBody>
                  <a:tcPr marL="91425" marR="91425" marT="91425" marB="91425"/>
                </a:tc>
                <a:tc>
                  <a:txBody>
                    <a:bodyPr/>
                    <a:lstStyle/>
                    <a:p>
                      <a:pPr marL="0" lvl="0" indent="0" algn="l" rtl="0">
                        <a:spcBef>
                          <a:spcPts val="0"/>
                        </a:spcBef>
                        <a:spcAft>
                          <a:spcPts val="0"/>
                        </a:spcAft>
                        <a:buNone/>
                      </a:pPr>
                      <a:r>
                        <a:rPr lang="en" sz="1100" b="1"/>
                        <a:t>Tuned 0.1795</a:t>
                      </a:r>
                      <a:endParaRPr sz="1100" b="1"/>
                    </a:p>
                  </a:txBody>
                  <a:tcPr marL="91425" marR="91425" marT="91425" marB="91425"/>
                </a:tc>
                <a:tc>
                  <a:txBody>
                    <a:bodyPr/>
                    <a:lstStyle/>
                    <a:p>
                      <a:pPr marL="0" lvl="0" indent="0" algn="r" rtl="0">
                        <a:lnSpc>
                          <a:spcPct val="115000"/>
                        </a:lnSpc>
                        <a:spcBef>
                          <a:spcPts val="0"/>
                        </a:spcBef>
                        <a:spcAft>
                          <a:spcPts val="0"/>
                        </a:spcAft>
                        <a:buNone/>
                      </a:pPr>
                      <a:r>
                        <a:rPr lang="en"/>
                        <a:t>59.71%</a:t>
                      </a:r>
                      <a:endParaRPr/>
                    </a:p>
                  </a:txBody>
                  <a:tcPr marL="91425" marR="91425" marT="91425" marB="91425"/>
                </a:tc>
                <a:tc>
                  <a:txBody>
                    <a:bodyPr/>
                    <a:lstStyle/>
                    <a:p>
                      <a:pPr marL="0" lvl="0" indent="0" algn="r" rtl="0">
                        <a:lnSpc>
                          <a:spcPct val="115000"/>
                        </a:lnSpc>
                        <a:spcBef>
                          <a:spcPts val="0"/>
                        </a:spcBef>
                        <a:spcAft>
                          <a:spcPts val="0"/>
                        </a:spcAft>
                        <a:buNone/>
                      </a:pPr>
                      <a:r>
                        <a:rPr lang="en" dirty="0"/>
                        <a:t>30.32%</a:t>
                      </a:r>
                      <a:endParaRPr dirty="0"/>
                    </a:p>
                  </a:txBody>
                  <a:tcPr marL="91425" marR="91425" marT="91425" marB="91425"/>
                </a:tc>
                <a:tc>
                  <a:txBody>
                    <a:bodyPr/>
                    <a:lstStyle/>
                    <a:p>
                      <a:pPr marL="0" lvl="0" indent="0" algn="r" rtl="0">
                        <a:lnSpc>
                          <a:spcPct val="115000"/>
                        </a:lnSpc>
                        <a:spcBef>
                          <a:spcPts val="0"/>
                        </a:spcBef>
                        <a:spcAft>
                          <a:spcPts val="0"/>
                        </a:spcAft>
                        <a:buNone/>
                      </a:pPr>
                      <a:r>
                        <a:rPr lang="en" sz="1100" b="1"/>
                        <a:t>46.23%</a:t>
                      </a:r>
                      <a:endParaRPr sz="1100" b="1"/>
                    </a:p>
                  </a:txBody>
                  <a:tcPr marL="91425" marR="91425" marT="91425" marB="91425"/>
                </a:tc>
                <a:tc>
                  <a:txBody>
                    <a:bodyPr/>
                    <a:lstStyle/>
                    <a:p>
                      <a:pPr marL="0" lvl="0" indent="0" algn="r" rtl="0">
                        <a:lnSpc>
                          <a:spcPct val="115000"/>
                        </a:lnSpc>
                        <a:spcBef>
                          <a:spcPts val="0"/>
                        </a:spcBef>
                        <a:spcAft>
                          <a:spcPts val="0"/>
                        </a:spcAft>
                        <a:buNone/>
                      </a:pPr>
                      <a:r>
                        <a:rPr lang="en"/>
                        <a:t>64.25%</a:t>
                      </a:r>
                      <a:endParaRPr/>
                    </a:p>
                  </a:txBody>
                  <a:tcPr marL="91425" marR="91425" marT="91425" marB="91425"/>
                </a:tc>
                <a:tc>
                  <a:txBody>
                    <a:bodyPr/>
                    <a:lstStyle/>
                    <a:p>
                      <a:pPr marL="0" lvl="0" indent="0" algn="r" rtl="0">
                        <a:lnSpc>
                          <a:spcPct val="115000"/>
                        </a:lnSpc>
                        <a:spcBef>
                          <a:spcPts val="0"/>
                        </a:spcBef>
                        <a:spcAft>
                          <a:spcPts val="0"/>
                        </a:spcAft>
                        <a:buNone/>
                      </a:pPr>
                      <a:r>
                        <a:rPr lang="en"/>
                        <a:t>36.63%</a:t>
                      </a:r>
                      <a:endParaRPr/>
                    </a:p>
                  </a:txBody>
                  <a:tcPr marL="91425" marR="91425" marT="91425" marB="91425"/>
                </a:tc>
                <a:tc>
                  <a:txBody>
                    <a:bodyPr/>
                    <a:lstStyle/>
                    <a:p>
                      <a:pPr marL="0" lvl="0" indent="0" algn="r" rtl="0">
                        <a:lnSpc>
                          <a:spcPct val="115000"/>
                        </a:lnSpc>
                        <a:spcBef>
                          <a:spcPts val="0"/>
                        </a:spcBef>
                        <a:spcAft>
                          <a:spcPts val="0"/>
                        </a:spcAft>
                        <a:buNone/>
                      </a:pPr>
                      <a:r>
                        <a:rPr lang="en"/>
                        <a:t>55.69%</a:t>
                      </a:r>
                      <a:endParaRPr/>
                    </a:p>
                  </a:txBody>
                  <a:tcPr marL="91425" marR="91425" marT="91425" marB="91425"/>
                </a:tc>
                <a:tc>
                  <a:txBody>
                    <a:bodyPr/>
                    <a:lstStyle/>
                    <a:p>
                      <a:pPr marL="0" lvl="0" indent="0" algn="r" rtl="0">
                        <a:lnSpc>
                          <a:spcPct val="115000"/>
                        </a:lnSpc>
                        <a:spcBef>
                          <a:spcPts val="0"/>
                        </a:spcBef>
                        <a:spcAft>
                          <a:spcPts val="0"/>
                        </a:spcAft>
                        <a:buNone/>
                      </a:pPr>
                      <a:r>
                        <a:rPr lang="en"/>
                        <a:t>29.17%</a:t>
                      </a:r>
                      <a:endParaRPr/>
                    </a:p>
                  </a:txBody>
                  <a:tcPr marL="91425" marR="91425" marT="91425" marB="91425"/>
                </a:tc>
                <a:extLst>
                  <a:ext uri="{0D108BD9-81ED-4DB2-BD59-A6C34878D82A}">
                    <a16:rowId xmlns:a16="http://schemas.microsoft.com/office/drawing/2014/main" val="10005"/>
                  </a:ext>
                </a:extLst>
              </a:tr>
              <a:tr h="361807">
                <a:tc>
                  <a:txBody>
                    <a:bodyPr/>
                    <a:lstStyle/>
                    <a:p>
                      <a:pPr marL="0" lvl="0" indent="0" algn="l" rtl="0">
                        <a:spcBef>
                          <a:spcPts val="0"/>
                        </a:spcBef>
                        <a:spcAft>
                          <a:spcPts val="0"/>
                        </a:spcAft>
                        <a:buNone/>
                      </a:pPr>
                      <a:r>
                        <a:rPr lang="en" sz="1100" b="1" dirty="0"/>
                        <a:t>Classifier Model</a:t>
                      </a:r>
                      <a:endParaRPr sz="1100" b="1" dirty="0"/>
                    </a:p>
                  </a:txBody>
                  <a:tcPr marL="91425" marR="91425" marT="91425" marB="91425"/>
                </a:tc>
                <a:tc>
                  <a:txBody>
                    <a:bodyPr/>
                    <a:lstStyle/>
                    <a:p>
                      <a:pPr marL="0" lvl="0" indent="0" algn="l" rtl="0">
                        <a:spcBef>
                          <a:spcPts val="0"/>
                        </a:spcBef>
                        <a:spcAft>
                          <a:spcPts val="0"/>
                        </a:spcAft>
                        <a:buNone/>
                      </a:pPr>
                      <a:r>
                        <a:rPr lang="en" sz="1100" b="1"/>
                        <a:t>Tuned 0.1795</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66.25%</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37.28%</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49.87%</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71.77%</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42.67%</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66.20%</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dirty="0"/>
                        <a:t>37.12%</a:t>
                      </a:r>
                      <a:endParaRPr sz="1100" b="1" dirty="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160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a:t>Performance with 8 models training + ensemble</a:t>
            </a:r>
            <a:endParaRPr/>
          </a:p>
          <a:p>
            <a:pPr marL="0" lvl="0" indent="0" algn="l" rtl="0">
              <a:spcBef>
                <a:spcPts val="0"/>
              </a:spcBef>
              <a:spcAft>
                <a:spcPts val="0"/>
              </a:spcAft>
              <a:buNone/>
            </a:pPr>
            <a:endParaRPr/>
          </a:p>
        </p:txBody>
      </p:sp>
      <p:graphicFrame>
        <p:nvGraphicFramePr>
          <p:cNvPr id="78" name="Google Shape;78;p17"/>
          <p:cNvGraphicFramePr/>
          <p:nvPr/>
        </p:nvGraphicFramePr>
        <p:xfrm>
          <a:off x="71775" y="732850"/>
          <a:ext cx="9456425" cy="4025160"/>
        </p:xfrm>
        <a:graphic>
          <a:graphicData uri="http://schemas.openxmlformats.org/drawingml/2006/table">
            <a:tbl>
              <a:tblPr>
                <a:noFill/>
                <a:tableStyleId>{4E8D13D3-F409-40F9-8654-14557241AADC}</a:tableStyleId>
              </a:tblPr>
              <a:tblGrid>
                <a:gridCol w="2498225">
                  <a:extLst>
                    <a:ext uri="{9D8B030D-6E8A-4147-A177-3AD203B41FA5}">
                      <a16:colId xmlns:a16="http://schemas.microsoft.com/office/drawing/2014/main" val="20000"/>
                    </a:ext>
                  </a:extLst>
                </a:gridCol>
                <a:gridCol w="1026850">
                  <a:extLst>
                    <a:ext uri="{9D8B030D-6E8A-4147-A177-3AD203B41FA5}">
                      <a16:colId xmlns:a16="http://schemas.microsoft.com/office/drawing/2014/main" val="20001"/>
                    </a:ext>
                  </a:extLst>
                </a:gridCol>
                <a:gridCol w="996225">
                  <a:extLst>
                    <a:ext uri="{9D8B030D-6E8A-4147-A177-3AD203B41FA5}">
                      <a16:colId xmlns:a16="http://schemas.microsoft.com/office/drawing/2014/main" val="20002"/>
                    </a:ext>
                  </a:extLst>
                </a:gridCol>
                <a:gridCol w="827625">
                  <a:extLst>
                    <a:ext uri="{9D8B030D-6E8A-4147-A177-3AD203B41FA5}">
                      <a16:colId xmlns:a16="http://schemas.microsoft.com/office/drawing/2014/main" val="20003"/>
                    </a:ext>
                  </a:extLst>
                </a:gridCol>
                <a:gridCol w="1118850">
                  <a:extLst>
                    <a:ext uri="{9D8B030D-6E8A-4147-A177-3AD203B41FA5}">
                      <a16:colId xmlns:a16="http://schemas.microsoft.com/office/drawing/2014/main" val="20004"/>
                    </a:ext>
                  </a:extLst>
                </a:gridCol>
                <a:gridCol w="827625">
                  <a:extLst>
                    <a:ext uri="{9D8B030D-6E8A-4147-A177-3AD203B41FA5}">
                      <a16:colId xmlns:a16="http://schemas.microsoft.com/office/drawing/2014/main" val="20005"/>
                    </a:ext>
                  </a:extLst>
                </a:gridCol>
                <a:gridCol w="1195450">
                  <a:extLst>
                    <a:ext uri="{9D8B030D-6E8A-4147-A177-3AD203B41FA5}">
                      <a16:colId xmlns:a16="http://schemas.microsoft.com/office/drawing/2014/main" val="20006"/>
                    </a:ext>
                  </a:extLst>
                </a:gridCol>
                <a:gridCol w="965575">
                  <a:extLst>
                    <a:ext uri="{9D8B030D-6E8A-4147-A177-3AD203B41FA5}">
                      <a16:colId xmlns:a16="http://schemas.microsoft.com/office/drawing/2014/main" val="20007"/>
                    </a:ext>
                  </a:extLst>
                </a:gridCol>
              </a:tblGrid>
              <a:tr h="0">
                <a:tc>
                  <a:txBody>
                    <a:bodyPr/>
                    <a:lstStyle/>
                    <a:p>
                      <a:pPr marL="0" lvl="0" indent="0" algn="ctr" rtl="0">
                        <a:lnSpc>
                          <a:spcPct val="115000"/>
                        </a:lnSpc>
                        <a:spcBef>
                          <a:spcPts val="0"/>
                        </a:spcBef>
                        <a:spcAft>
                          <a:spcPts val="0"/>
                        </a:spcAft>
                        <a:buNone/>
                      </a:pPr>
                      <a:r>
                        <a:rPr lang="en" sz="1100" b="1"/>
                        <a:t>Model</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Accuracy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Precision</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Recall</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Specificity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F1</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ROC-AUC</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PR-AUC</a:t>
                      </a:r>
                      <a:endParaRPr sz="1100" b="1"/>
                    </a:p>
                  </a:txBody>
                  <a:tcPr marL="91425" marR="91425" marT="91425" marB="91425"/>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sz="1100" b="1"/>
                        <a:t>Extra Trees</a:t>
                      </a:r>
                      <a:endParaRPr sz="1100" b="1"/>
                    </a:p>
                  </a:txBody>
                  <a:tcPr marL="91425" marR="91425" marT="91425" marB="91425"/>
                </a:tc>
                <a:tc>
                  <a:txBody>
                    <a:bodyPr/>
                    <a:lstStyle/>
                    <a:p>
                      <a:pPr marL="0" lvl="0" indent="0" algn="r" rtl="0">
                        <a:lnSpc>
                          <a:spcPct val="115000"/>
                        </a:lnSpc>
                        <a:spcBef>
                          <a:spcPts val="0"/>
                        </a:spcBef>
                        <a:spcAft>
                          <a:spcPts val="0"/>
                        </a:spcAft>
                        <a:buNone/>
                      </a:pPr>
                      <a:r>
                        <a:rPr lang="en"/>
                        <a:t>76.39%</a:t>
                      </a:r>
                      <a:endParaRPr/>
                    </a:p>
                  </a:txBody>
                  <a:tcPr marL="91425" marR="91425" marT="91425" marB="91425"/>
                </a:tc>
                <a:tc>
                  <a:txBody>
                    <a:bodyPr/>
                    <a:lstStyle/>
                    <a:p>
                      <a:pPr marL="0" lvl="0" indent="0" algn="r" rtl="0">
                        <a:lnSpc>
                          <a:spcPct val="115000"/>
                        </a:lnSpc>
                        <a:spcBef>
                          <a:spcPts val="0"/>
                        </a:spcBef>
                        <a:spcAft>
                          <a:spcPts val="0"/>
                        </a:spcAft>
                        <a:buNone/>
                      </a:pPr>
                      <a:r>
                        <a:rPr lang="en"/>
                        <a:t>40.27%</a:t>
                      </a:r>
                      <a:endParaRPr/>
                    </a:p>
                  </a:txBody>
                  <a:tcPr marL="91425" marR="91425" marT="91425" marB="91425"/>
                </a:tc>
                <a:tc>
                  <a:txBody>
                    <a:bodyPr/>
                    <a:lstStyle/>
                    <a:p>
                      <a:pPr marL="0" lvl="0" indent="0" algn="r" rtl="0">
                        <a:lnSpc>
                          <a:spcPct val="115000"/>
                        </a:lnSpc>
                        <a:spcBef>
                          <a:spcPts val="0"/>
                        </a:spcBef>
                        <a:spcAft>
                          <a:spcPts val="0"/>
                        </a:spcAft>
                        <a:buNone/>
                      </a:pPr>
                      <a:r>
                        <a:rPr lang="en" sz="1100" b="1"/>
                        <a:t>78.61%</a:t>
                      </a:r>
                      <a:endParaRPr sz="1100" b="1"/>
                    </a:p>
                  </a:txBody>
                  <a:tcPr marL="91425" marR="91425" marT="91425" marB="91425"/>
                </a:tc>
                <a:tc>
                  <a:txBody>
                    <a:bodyPr/>
                    <a:lstStyle/>
                    <a:p>
                      <a:pPr marL="0" lvl="0" indent="0" algn="r" rtl="0">
                        <a:lnSpc>
                          <a:spcPct val="115000"/>
                        </a:lnSpc>
                        <a:spcBef>
                          <a:spcPts val="0"/>
                        </a:spcBef>
                        <a:spcAft>
                          <a:spcPts val="0"/>
                        </a:spcAft>
                        <a:buNone/>
                      </a:pPr>
                      <a:r>
                        <a:rPr lang="en"/>
                        <a:t>74.16%</a:t>
                      </a:r>
                      <a:endParaRPr/>
                    </a:p>
                  </a:txBody>
                  <a:tcPr marL="91425" marR="91425" marT="91425" marB="91425"/>
                </a:tc>
                <a:tc>
                  <a:txBody>
                    <a:bodyPr/>
                    <a:lstStyle/>
                    <a:p>
                      <a:pPr marL="0" lvl="0" indent="0" algn="r" rtl="0">
                        <a:lnSpc>
                          <a:spcPct val="115000"/>
                        </a:lnSpc>
                        <a:spcBef>
                          <a:spcPts val="0"/>
                        </a:spcBef>
                        <a:spcAft>
                          <a:spcPts val="0"/>
                        </a:spcAft>
                        <a:buNone/>
                      </a:pPr>
                      <a:r>
                        <a:rPr lang="en"/>
                        <a:t>53.26%</a:t>
                      </a:r>
                      <a:endParaRPr/>
                    </a:p>
                  </a:txBody>
                  <a:tcPr marL="91425" marR="91425" marT="91425" marB="91425"/>
                </a:tc>
                <a:tc>
                  <a:txBody>
                    <a:bodyPr/>
                    <a:lstStyle/>
                    <a:p>
                      <a:pPr marL="0" lvl="0" indent="0" algn="r" rtl="0">
                        <a:lnSpc>
                          <a:spcPct val="115000"/>
                        </a:lnSpc>
                        <a:spcBef>
                          <a:spcPts val="0"/>
                        </a:spcBef>
                        <a:spcAft>
                          <a:spcPts val="0"/>
                        </a:spcAft>
                        <a:buNone/>
                      </a:pPr>
                      <a:r>
                        <a:rPr lang="en"/>
                        <a:t>85.21%</a:t>
                      </a:r>
                      <a:endParaRPr/>
                    </a:p>
                  </a:txBody>
                  <a:tcPr marL="91425" marR="91425" marT="91425" marB="91425"/>
                </a:tc>
                <a:tc>
                  <a:txBody>
                    <a:bodyPr/>
                    <a:lstStyle/>
                    <a:p>
                      <a:pPr marL="0" lvl="0" indent="0" algn="r" rtl="0">
                        <a:lnSpc>
                          <a:spcPct val="115000"/>
                        </a:lnSpc>
                        <a:spcBef>
                          <a:spcPts val="0"/>
                        </a:spcBef>
                        <a:spcAft>
                          <a:spcPts val="0"/>
                        </a:spcAft>
                        <a:buNone/>
                      </a:pPr>
                      <a:r>
                        <a:rPr lang="en"/>
                        <a:t>60.48%</a:t>
                      </a:r>
                      <a:endParaRPr/>
                    </a:p>
                  </a:txBody>
                  <a:tcPr marL="91425" marR="91425" marT="91425" marB="91425"/>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1100" b="1"/>
                        <a:t>XGBoost</a:t>
                      </a:r>
                      <a:endParaRPr sz="1100" b="1"/>
                    </a:p>
                  </a:txBody>
                  <a:tcPr marL="91425" marR="91425" marT="91425" marB="91425"/>
                </a:tc>
                <a:tc>
                  <a:txBody>
                    <a:bodyPr/>
                    <a:lstStyle/>
                    <a:p>
                      <a:pPr marL="0" lvl="0" indent="0" algn="r" rtl="0">
                        <a:lnSpc>
                          <a:spcPct val="115000"/>
                        </a:lnSpc>
                        <a:spcBef>
                          <a:spcPts val="0"/>
                        </a:spcBef>
                        <a:spcAft>
                          <a:spcPts val="0"/>
                        </a:spcAft>
                        <a:buNone/>
                      </a:pPr>
                      <a:r>
                        <a:rPr lang="en"/>
                        <a:t>76.51%</a:t>
                      </a:r>
                      <a:endParaRPr/>
                    </a:p>
                  </a:txBody>
                  <a:tcPr marL="91425" marR="91425" marT="91425" marB="91425"/>
                </a:tc>
                <a:tc>
                  <a:txBody>
                    <a:bodyPr/>
                    <a:lstStyle/>
                    <a:p>
                      <a:pPr marL="0" lvl="0" indent="0" algn="r" rtl="0">
                        <a:lnSpc>
                          <a:spcPct val="115000"/>
                        </a:lnSpc>
                        <a:spcBef>
                          <a:spcPts val="0"/>
                        </a:spcBef>
                        <a:spcAft>
                          <a:spcPts val="0"/>
                        </a:spcAft>
                        <a:buNone/>
                      </a:pPr>
                      <a:r>
                        <a:rPr lang="en"/>
                        <a:t>40.97%</a:t>
                      </a:r>
                      <a:endParaRPr/>
                    </a:p>
                  </a:txBody>
                  <a:tcPr marL="91425" marR="91425" marT="91425" marB="91425"/>
                </a:tc>
                <a:tc>
                  <a:txBody>
                    <a:bodyPr/>
                    <a:lstStyle/>
                    <a:p>
                      <a:pPr marL="0" lvl="0" indent="0" algn="r" rtl="0">
                        <a:lnSpc>
                          <a:spcPct val="115000"/>
                        </a:lnSpc>
                        <a:spcBef>
                          <a:spcPts val="0"/>
                        </a:spcBef>
                        <a:spcAft>
                          <a:spcPts val="0"/>
                        </a:spcAft>
                        <a:buNone/>
                      </a:pPr>
                      <a:r>
                        <a:rPr lang="en"/>
                        <a:t>77.90%</a:t>
                      </a:r>
                      <a:endParaRPr/>
                    </a:p>
                  </a:txBody>
                  <a:tcPr marL="91425" marR="91425" marT="91425" marB="91425"/>
                </a:tc>
                <a:tc>
                  <a:txBody>
                    <a:bodyPr/>
                    <a:lstStyle/>
                    <a:p>
                      <a:pPr marL="0" lvl="0" indent="0" algn="r" rtl="0">
                        <a:lnSpc>
                          <a:spcPct val="115000"/>
                        </a:lnSpc>
                        <a:spcBef>
                          <a:spcPts val="0"/>
                        </a:spcBef>
                        <a:spcAft>
                          <a:spcPts val="0"/>
                        </a:spcAft>
                        <a:buNone/>
                      </a:pPr>
                      <a:r>
                        <a:rPr lang="en"/>
                        <a:t>75.12%</a:t>
                      </a:r>
                      <a:endParaRPr/>
                    </a:p>
                  </a:txBody>
                  <a:tcPr marL="91425" marR="91425" marT="91425" marB="91425"/>
                </a:tc>
                <a:tc>
                  <a:txBody>
                    <a:bodyPr/>
                    <a:lstStyle/>
                    <a:p>
                      <a:pPr marL="0" lvl="0" indent="0" algn="r" rtl="0">
                        <a:lnSpc>
                          <a:spcPct val="115000"/>
                        </a:lnSpc>
                        <a:spcBef>
                          <a:spcPts val="0"/>
                        </a:spcBef>
                        <a:spcAft>
                          <a:spcPts val="0"/>
                        </a:spcAft>
                        <a:buNone/>
                      </a:pPr>
                      <a:r>
                        <a:rPr lang="en"/>
                        <a:t>53.70%</a:t>
                      </a:r>
                      <a:endParaRPr/>
                    </a:p>
                  </a:txBody>
                  <a:tcPr marL="91425" marR="91425" marT="91425" marB="91425"/>
                </a:tc>
                <a:tc>
                  <a:txBody>
                    <a:bodyPr/>
                    <a:lstStyle/>
                    <a:p>
                      <a:pPr marL="0" lvl="0" indent="0" algn="r" rtl="0">
                        <a:lnSpc>
                          <a:spcPct val="115000"/>
                        </a:lnSpc>
                        <a:spcBef>
                          <a:spcPts val="0"/>
                        </a:spcBef>
                        <a:spcAft>
                          <a:spcPts val="0"/>
                        </a:spcAft>
                        <a:buNone/>
                      </a:pPr>
                      <a:r>
                        <a:rPr lang="en"/>
                        <a:t>85.64%</a:t>
                      </a:r>
                      <a:endParaRPr/>
                    </a:p>
                  </a:txBody>
                  <a:tcPr marL="91425" marR="91425" marT="91425" marB="91425"/>
                </a:tc>
                <a:tc>
                  <a:txBody>
                    <a:bodyPr/>
                    <a:lstStyle/>
                    <a:p>
                      <a:pPr marL="0" lvl="0" indent="0" algn="r" rtl="0">
                        <a:lnSpc>
                          <a:spcPct val="115000"/>
                        </a:lnSpc>
                        <a:spcBef>
                          <a:spcPts val="0"/>
                        </a:spcBef>
                        <a:spcAft>
                          <a:spcPts val="0"/>
                        </a:spcAft>
                        <a:buNone/>
                      </a:pPr>
                      <a:r>
                        <a:rPr lang="en"/>
                        <a:t>61.43%</a:t>
                      </a:r>
                      <a:endParaRPr/>
                    </a:p>
                  </a:txBody>
                  <a:tcPr marL="91425" marR="91425" marT="91425" marB="91425"/>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sz="1100" b="1"/>
                        <a:t>LightGBM</a:t>
                      </a:r>
                      <a:endParaRPr sz="1100" b="1"/>
                    </a:p>
                  </a:txBody>
                  <a:tcPr marL="91425" marR="91425" marT="91425" marB="91425"/>
                </a:tc>
                <a:tc>
                  <a:txBody>
                    <a:bodyPr/>
                    <a:lstStyle/>
                    <a:p>
                      <a:pPr marL="0" lvl="0" indent="0" algn="r" rtl="0">
                        <a:lnSpc>
                          <a:spcPct val="115000"/>
                        </a:lnSpc>
                        <a:spcBef>
                          <a:spcPts val="0"/>
                        </a:spcBef>
                        <a:spcAft>
                          <a:spcPts val="0"/>
                        </a:spcAft>
                        <a:buNone/>
                      </a:pPr>
                      <a:r>
                        <a:rPr lang="en"/>
                        <a:t>76.85%</a:t>
                      </a:r>
                      <a:endParaRPr/>
                    </a:p>
                  </a:txBody>
                  <a:tcPr marL="91425" marR="91425" marT="91425" marB="91425"/>
                </a:tc>
                <a:tc>
                  <a:txBody>
                    <a:bodyPr/>
                    <a:lstStyle/>
                    <a:p>
                      <a:pPr marL="0" lvl="0" indent="0" algn="r" rtl="0">
                        <a:lnSpc>
                          <a:spcPct val="115000"/>
                        </a:lnSpc>
                        <a:spcBef>
                          <a:spcPts val="0"/>
                        </a:spcBef>
                        <a:spcAft>
                          <a:spcPts val="0"/>
                        </a:spcAft>
                        <a:buNone/>
                      </a:pPr>
                      <a:r>
                        <a:rPr lang="en"/>
                        <a:t>43.11%</a:t>
                      </a:r>
                      <a:endParaRPr/>
                    </a:p>
                  </a:txBody>
                  <a:tcPr marL="91425" marR="91425" marT="91425" marB="91425"/>
                </a:tc>
                <a:tc>
                  <a:txBody>
                    <a:bodyPr/>
                    <a:lstStyle/>
                    <a:p>
                      <a:pPr marL="0" lvl="0" indent="0" algn="r" rtl="0">
                        <a:lnSpc>
                          <a:spcPct val="115000"/>
                        </a:lnSpc>
                        <a:spcBef>
                          <a:spcPts val="0"/>
                        </a:spcBef>
                        <a:spcAft>
                          <a:spcPts val="0"/>
                        </a:spcAft>
                        <a:buNone/>
                      </a:pPr>
                      <a:r>
                        <a:rPr lang="en"/>
                        <a:t>75.89%</a:t>
                      </a:r>
                      <a:endParaRPr/>
                    </a:p>
                  </a:txBody>
                  <a:tcPr marL="91425" marR="91425" marT="91425" marB="91425"/>
                </a:tc>
                <a:tc>
                  <a:txBody>
                    <a:bodyPr/>
                    <a:lstStyle/>
                    <a:p>
                      <a:pPr marL="0" lvl="0" indent="0" algn="r" rtl="0">
                        <a:lnSpc>
                          <a:spcPct val="115000"/>
                        </a:lnSpc>
                        <a:spcBef>
                          <a:spcPts val="0"/>
                        </a:spcBef>
                        <a:spcAft>
                          <a:spcPts val="0"/>
                        </a:spcAft>
                        <a:buNone/>
                      </a:pPr>
                      <a:r>
                        <a:rPr lang="en" sz="1100" b="1"/>
                        <a:t>77.81%</a:t>
                      </a:r>
                      <a:endParaRPr sz="1100" b="1"/>
                    </a:p>
                  </a:txBody>
                  <a:tcPr marL="91425" marR="91425" marT="91425" marB="91425"/>
                </a:tc>
                <a:tc>
                  <a:txBody>
                    <a:bodyPr/>
                    <a:lstStyle/>
                    <a:p>
                      <a:pPr marL="0" lvl="0" indent="0" algn="r" rtl="0">
                        <a:lnSpc>
                          <a:spcPct val="115000"/>
                        </a:lnSpc>
                        <a:spcBef>
                          <a:spcPts val="0"/>
                        </a:spcBef>
                        <a:spcAft>
                          <a:spcPts val="0"/>
                        </a:spcAft>
                        <a:buNone/>
                      </a:pPr>
                      <a:r>
                        <a:rPr lang="en"/>
                        <a:t>54.99%</a:t>
                      </a:r>
                      <a:endParaRPr/>
                    </a:p>
                  </a:txBody>
                  <a:tcPr marL="91425" marR="91425" marT="91425" marB="91425"/>
                </a:tc>
                <a:tc>
                  <a:txBody>
                    <a:bodyPr/>
                    <a:lstStyle/>
                    <a:p>
                      <a:pPr marL="0" lvl="0" indent="0" algn="r" rtl="0">
                        <a:lnSpc>
                          <a:spcPct val="115000"/>
                        </a:lnSpc>
                        <a:spcBef>
                          <a:spcPts val="0"/>
                        </a:spcBef>
                        <a:spcAft>
                          <a:spcPts val="0"/>
                        </a:spcAft>
                        <a:buNone/>
                      </a:pPr>
                      <a:r>
                        <a:rPr lang="en" sz="1100" b="1"/>
                        <a:t>85.87%</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61.82%</a:t>
                      </a:r>
                      <a:endParaRPr sz="1100" b="1"/>
                    </a:p>
                  </a:txBody>
                  <a:tcPr marL="91425" marR="91425" marT="91425" marB="91425"/>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sz="1100" b="1"/>
                        <a:t>SVM (RBF)</a:t>
                      </a:r>
                      <a:endParaRPr sz="1100" b="1"/>
                    </a:p>
                  </a:txBody>
                  <a:tcPr marL="91425" marR="91425" marT="91425" marB="91425"/>
                </a:tc>
                <a:tc>
                  <a:txBody>
                    <a:bodyPr/>
                    <a:lstStyle/>
                    <a:p>
                      <a:pPr marL="0" lvl="0" indent="0" algn="r" rtl="0">
                        <a:lnSpc>
                          <a:spcPct val="115000"/>
                        </a:lnSpc>
                        <a:spcBef>
                          <a:spcPts val="0"/>
                        </a:spcBef>
                        <a:spcAft>
                          <a:spcPts val="0"/>
                        </a:spcAft>
                        <a:buNone/>
                      </a:pPr>
                      <a:r>
                        <a:rPr lang="en"/>
                        <a:t>65.87%</a:t>
                      </a:r>
                      <a:endParaRPr/>
                    </a:p>
                  </a:txBody>
                  <a:tcPr marL="91425" marR="91425" marT="91425" marB="91425"/>
                </a:tc>
                <a:tc>
                  <a:txBody>
                    <a:bodyPr/>
                    <a:lstStyle/>
                    <a:p>
                      <a:pPr marL="0" lvl="0" indent="0" algn="r" rtl="0">
                        <a:lnSpc>
                          <a:spcPct val="115000"/>
                        </a:lnSpc>
                        <a:spcBef>
                          <a:spcPts val="0"/>
                        </a:spcBef>
                        <a:spcAft>
                          <a:spcPts val="0"/>
                        </a:spcAft>
                        <a:buNone/>
                      </a:pPr>
                      <a:r>
                        <a:rPr lang="en"/>
                        <a:t>37.39%</a:t>
                      </a:r>
                      <a:endParaRPr/>
                    </a:p>
                  </a:txBody>
                  <a:tcPr marL="91425" marR="91425" marT="91425" marB="91425"/>
                </a:tc>
                <a:tc>
                  <a:txBody>
                    <a:bodyPr/>
                    <a:lstStyle/>
                    <a:p>
                      <a:pPr marL="0" lvl="0" indent="0" algn="r" rtl="0">
                        <a:lnSpc>
                          <a:spcPct val="115000"/>
                        </a:lnSpc>
                        <a:spcBef>
                          <a:spcPts val="0"/>
                        </a:spcBef>
                        <a:spcAft>
                          <a:spcPts val="0"/>
                        </a:spcAft>
                        <a:buNone/>
                      </a:pPr>
                      <a:r>
                        <a:rPr lang="en"/>
                        <a:t>50.46%</a:t>
                      </a:r>
                      <a:endParaRPr/>
                    </a:p>
                  </a:txBody>
                  <a:tcPr marL="91425" marR="91425" marT="91425" marB="91425"/>
                </a:tc>
                <a:tc>
                  <a:txBody>
                    <a:bodyPr/>
                    <a:lstStyle/>
                    <a:p>
                      <a:pPr marL="0" lvl="0" indent="0" algn="r" rtl="0">
                        <a:lnSpc>
                          <a:spcPct val="115000"/>
                        </a:lnSpc>
                        <a:spcBef>
                          <a:spcPts val="0"/>
                        </a:spcBef>
                        <a:spcAft>
                          <a:spcPts val="0"/>
                        </a:spcAft>
                        <a:buNone/>
                      </a:pPr>
                      <a:r>
                        <a:rPr lang="en"/>
                        <a:t>81.27%</a:t>
                      </a:r>
                      <a:endParaRPr/>
                    </a:p>
                  </a:txBody>
                  <a:tcPr marL="91425" marR="91425" marT="91425" marB="91425"/>
                </a:tc>
                <a:tc>
                  <a:txBody>
                    <a:bodyPr/>
                    <a:lstStyle/>
                    <a:p>
                      <a:pPr marL="0" lvl="0" indent="0" algn="r" rtl="0">
                        <a:lnSpc>
                          <a:spcPct val="115000"/>
                        </a:lnSpc>
                        <a:spcBef>
                          <a:spcPts val="0"/>
                        </a:spcBef>
                        <a:spcAft>
                          <a:spcPts val="0"/>
                        </a:spcAft>
                        <a:buNone/>
                      </a:pPr>
                      <a:r>
                        <a:rPr lang="en"/>
                        <a:t>42.95%</a:t>
                      </a:r>
                      <a:endParaRPr/>
                    </a:p>
                  </a:txBody>
                  <a:tcPr marL="91425" marR="91425" marT="91425" marB="91425"/>
                </a:tc>
                <a:tc>
                  <a:txBody>
                    <a:bodyPr/>
                    <a:lstStyle/>
                    <a:p>
                      <a:pPr marL="0" lvl="0" indent="0" algn="r" rtl="0">
                        <a:lnSpc>
                          <a:spcPct val="115000"/>
                        </a:lnSpc>
                        <a:spcBef>
                          <a:spcPts val="0"/>
                        </a:spcBef>
                        <a:spcAft>
                          <a:spcPts val="0"/>
                        </a:spcAft>
                        <a:buNone/>
                      </a:pPr>
                      <a:r>
                        <a:rPr lang="en"/>
                        <a:t>71.03%</a:t>
                      </a:r>
                      <a:endParaRPr/>
                    </a:p>
                  </a:txBody>
                  <a:tcPr marL="91425" marR="91425" marT="91425" marB="91425"/>
                </a:tc>
                <a:tc>
                  <a:txBody>
                    <a:bodyPr/>
                    <a:lstStyle/>
                    <a:p>
                      <a:pPr marL="0" lvl="0" indent="0" algn="r" rtl="0">
                        <a:lnSpc>
                          <a:spcPct val="115000"/>
                        </a:lnSpc>
                        <a:spcBef>
                          <a:spcPts val="0"/>
                        </a:spcBef>
                        <a:spcAft>
                          <a:spcPts val="0"/>
                        </a:spcAft>
                        <a:buNone/>
                      </a:pPr>
                      <a:r>
                        <a:rPr lang="en"/>
                        <a:t>44.21%</a:t>
                      </a:r>
                      <a:endParaRPr/>
                    </a:p>
                  </a:txBody>
                  <a:tcPr marL="91425" marR="91425" marT="91425" marB="91425"/>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sz="1100" b="1"/>
                        <a:t>Random Forest</a:t>
                      </a:r>
                      <a:endParaRPr sz="1100" b="1"/>
                    </a:p>
                  </a:txBody>
                  <a:tcPr marL="91425" marR="91425" marT="91425" marB="91425"/>
                </a:tc>
                <a:tc>
                  <a:txBody>
                    <a:bodyPr/>
                    <a:lstStyle/>
                    <a:p>
                      <a:pPr marL="0" lvl="0" indent="0" algn="r" rtl="0">
                        <a:lnSpc>
                          <a:spcPct val="115000"/>
                        </a:lnSpc>
                        <a:spcBef>
                          <a:spcPts val="0"/>
                        </a:spcBef>
                        <a:spcAft>
                          <a:spcPts val="0"/>
                        </a:spcAft>
                        <a:buNone/>
                      </a:pPr>
                      <a:r>
                        <a:rPr lang="en"/>
                        <a:t>76.43%</a:t>
                      </a:r>
                      <a:endParaRPr/>
                    </a:p>
                  </a:txBody>
                  <a:tcPr marL="91425" marR="91425" marT="91425" marB="91425"/>
                </a:tc>
                <a:tc>
                  <a:txBody>
                    <a:bodyPr/>
                    <a:lstStyle/>
                    <a:p>
                      <a:pPr marL="0" lvl="0" indent="0" algn="r" rtl="0">
                        <a:lnSpc>
                          <a:spcPct val="115000"/>
                        </a:lnSpc>
                        <a:spcBef>
                          <a:spcPts val="0"/>
                        </a:spcBef>
                        <a:spcAft>
                          <a:spcPts val="0"/>
                        </a:spcAft>
                        <a:buNone/>
                      </a:pPr>
                      <a:r>
                        <a:rPr lang="en"/>
                        <a:t>41.38%</a:t>
                      </a:r>
                      <a:endParaRPr/>
                    </a:p>
                  </a:txBody>
                  <a:tcPr marL="91425" marR="91425" marT="91425" marB="91425"/>
                </a:tc>
                <a:tc>
                  <a:txBody>
                    <a:bodyPr/>
                    <a:lstStyle/>
                    <a:p>
                      <a:pPr marL="0" lvl="0" indent="0" algn="r" rtl="0">
                        <a:lnSpc>
                          <a:spcPct val="115000"/>
                        </a:lnSpc>
                        <a:spcBef>
                          <a:spcPts val="0"/>
                        </a:spcBef>
                        <a:spcAft>
                          <a:spcPts val="0"/>
                        </a:spcAft>
                        <a:buNone/>
                      </a:pPr>
                      <a:r>
                        <a:rPr lang="en"/>
                        <a:t>77.05%</a:t>
                      </a:r>
                      <a:endParaRPr/>
                    </a:p>
                  </a:txBody>
                  <a:tcPr marL="91425" marR="91425" marT="91425" marB="91425"/>
                </a:tc>
                <a:tc>
                  <a:txBody>
                    <a:bodyPr/>
                    <a:lstStyle/>
                    <a:p>
                      <a:pPr marL="0" lvl="0" indent="0" algn="r" rtl="0">
                        <a:lnSpc>
                          <a:spcPct val="115000"/>
                        </a:lnSpc>
                        <a:spcBef>
                          <a:spcPts val="0"/>
                        </a:spcBef>
                        <a:spcAft>
                          <a:spcPts val="0"/>
                        </a:spcAft>
                        <a:buNone/>
                      </a:pPr>
                      <a:r>
                        <a:rPr lang="en"/>
                        <a:t>75.81%</a:t>
                      </a:r>
                      <a:endParaRPr/>
                    </a:p>
                  </a:txBody>
                  <a:tcPr marL="91425" marR="91425" marT="91425" marB="91425"/>
                </a:tc>
                <a:tc>
                  <a:txBody>
                    <a:bodyPr/>
                    <a:lstStyle/>
                    <a:p>
                      <a:pPr marL="0" lvl="0" indent="0" algn="r" rtl="0">
                        <a:lnSpc>
                          <a:spcPct val="115000"/>
                        </a:lnSpc>
                        <a:spcBef>
                          <a:spcPts val="0"/>
                        </a:spcBef>
                        <a:spcAft>
                          <a:spcPts val="0"/>
                        </a:spcAft>
                        <a:buNone/>
                      </a:pPr>
                      <a:r>
                        <a:rPr lang="en"/>
                        <a:t>53.84%</a:t>
                      </a:r>
                      <a:endParaRPr/>
                    </a:p>
                  </a:txBody>
                  <a:tcPr marL="91425" marR="91425" marT="91425" marB="91425"/>
                </a:tc>
                <a:tc>
                  <a:txBody>
                    <a:bodyPr/>
                    <a:lstStyle/>
                    <a:p>
                      <a:pPr marL="0" lvl="0" indent="0" algn="r" rtl="0">
                        <a:lnSpc>
                          <a:spcPct val="115000"/>
                        </a:lnSpc>
                        <a:spcBef>
                          <a:spcPts val="0"/>
                        </a:spcBef>
                        <a:spcAft>
                          <a:spcPts val="0"/>
                        </a:spcAft>
                        <a:buNone/>
                      </a:pPr>
                      <a:r>
                        <a:rPr lang="en"/>
                        <a:t>85.58%</a:t>
                      </a:r>
                      <a:endParaRPr/>
                    </a:p>
                  </a:txBody>
                  <a:tcPr marL="91425" marR="91425" marT="91425" marB="91425"/>
                </a:tc>
                <a:tc>
                  <a:txBody>
                    <a:bodyPr/>
                    <a:lstStyle/>
                    <a:p>
                      <a:pPr marL="0" lvl="0" indent="0" algn="r" rtl="0">
                        <a:lnSpc>
                          <a:spcPct val="115000"/>
                        </a:lnSpc>
                        <a:spcBef>
                          <a:spcPts val="0"/>
                        </a:spcBef>
                        <a:spcAft>
                          <a:spcPts val="0"/>
                        </a:spcAft>
                        <a:buNone/>
                      </a:pPr>
                      <a:r>
                        <a:rPr lang="en"/>
                        <a:t>61.26%</a:t>
                      </a:r>
                      <a:endParaRPr/>
                    </a:p>
                  </a:txBody>
                  <a:tcPr marL="91425" marR="91425" marT="91425" marB="91425"/>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sz="1100" b="1"/>
                        <a:t>KNN</a:t>
                      </a:r>
                      <a:endParaRPr sz="1100" b="1"/>
                    </a:p>
                  </a:txBody>
                  <a:tcPr marL="91425" marR="91425" marT="91425" marB="91425"/>
                </a:tc>
                <a:tc>
                  <a:txBody>
                    <a:bodyPr/>
                    <a:lstStyle/>
                    <a:p>
                      <a:pPr marL="0" lvl="0" indent="0" algn="r" rtl="0">
                        <a:lnSpc>
                          <a:spcPct val="115000"/>
                        </a:lnSpc>
                        <a:spcBef>
                          <a:spcPts val="0"/>
                        </a:spcBef>
                        <a:spcAft>
                          <a:spcPts val="0"/>
                        </a:spcAft>
                        <a:buNone/>
                      </a:pPr>
                      <a:r>
                        <a:rPr lang="en"/>
                        <a:t>73.08%</a:t>
                      </a:r>
                      <a:endParaRPr/>
                    </a:p>
                  </a:txBody>
                  <a:tcPr marL="91425" marR="91425" marT="91425" marB="91425"/>
                </a:tc>
                <a:tc>
                  <a:txBody>
                    <a:bodyPr/>
                    <a:lstStyle/>
                    <a:p>
                      <a:pPr marL="0" lvl="0" indent="0" algn="r" rtl="0">
                        <a:lnSpc>
                          <a:spcPct val="115000"/>
                        </a:lnSpc>
                        <a:spcBef>
                          <a:spcPts val="0"/>
                        </a:spcBef>
                        <a:spcAft>
                          <a:spcPts val="0"/>
                        </a:spcAft>
                        <a:buNone/>
                      </a:pPr>
                      <a:r>
                        <a:rPr lang="en"/>
                        <a:t>35.74%</a:t>
                      </a:r>
                      <a:endParaRPr/>
                    </a:p>
                  </a:txBody>
                  <a:tcPr marL="91425" marR="91425" marT="91425" marB="91425"/>
                </a:tc>
                <a:tc>
                  <a:txBody>
                    <a:bodyPr/>
                    <a:lstStyle/>
                    <a:p>
                      <a:pPr marL="0" lvl="0" indent="0" algn="r" rtl="0">
                        <a:lnSpc>
                          <a:spcPct val="115000"/>
                        </a:lnSpc>
                        <a:spcBef>
                          <a:spcPts val="0"/>
                        </a:spcBef>
                        <a:spcAft>
                          <a:spcPts val="0"/>
                        </a:spcAft>
                        <a:buNone/>
                      </a:pPr>
                      <a:r>
                        <a:rPr lang="en"/>
                        <a:t>76.75%</a:t>
                      </a:r>
                      <a:endParaRPr/>
                    </a:p>
                  </a:txBody>
                  <a:tcPr marL="91425" marR="91425" marT="91425" marB="91425"/>
                </a:tc>
                <a:tc>
                  <a:txBody>
                    <a:bodyPr/>
                    <a:lstStyle/>
                    <a:p>
                      <a:pPr marL="0" lvl="0" indent="0" algn="r" rtl="0">
                        <a:lnSpc>
                          <a:spcPct val="115000"/>
                        </a:lnSpc>
                        <a:spcBef>
                          <a:spcPts val="0"/>
                        </a:spcBef>
                        <a:spcAft>
                          <a:spcPts val="0"/>
                        </a:spcAft>
                        <a:buNone/>
                      </a:pPr>
                      <a:r>
                        <a:rPr lang="en"/>
                        <a:t>69.41%</a:t>
                      </a:r>
                      <a:endParaRPr/>
                    </a:p>
                  </a:txBody>
                  <a:tcPr marL="91425" marR="91425" marT="91425" marB="91425"/>
                </a:tc>
                <a:tc>
                  <a:txBody>
                    <a:bodyPr/>
                    <a:lstStyle/>
                    <a:p>
                      <a:pPr marL="0" lvl="0" indent="0" algn="r" rtl="0">
                        <a:lnSpc>
                          <a:spcPct val="115000"/>
                        </a:lnSpc>
                        <a:spcBef>
                          <a:spcPts val="0"/>
                        </a:spcBef>
                        <a:spcAft>
                          <a:spcPts val="0"/>
                        </a:spcAft>
                        <a:buNone/>
                      </a:pPr>
                      <a:r>
                        <a:rPr lang="en"/>
                        <a:t>48.76%</a:t>
                      </a:r>
                      <a:endParaRPr/>
                    </a:p>
                  </a:txBody>
                  <a:tcPr marL="91425" marR="91425" marT="91425" marB="91425"/>
                </a:tc>
                <a:tc>
                  <a:txBody>
                    <a:bodyPr/>
                    <a:lstStyle/>
                    <a:p>
                      <a:pPr marL="0" lvl="0" indent="0" algn="r" rtl="0">
                        <a:lnSpc>
                          <a:spcPct val="115000"/>
                        </a:lnSpc>
                        <a:spcBef>
                          <a:spcPts val="0"/>
                        </a:spcBef>
                        <a:spcAft>
                          <a:spcPts val="0"/>
                        </a:spcAft>
                        <a:buNone/>
                      </a:pPr>
                      <a:r>
                        <a:rPr lang="en"/>
                        <a:t>81.76%</a:t>
                      </a:r>
                      <a:endParaRPr/>
                    </a:p>
                  </a:txBody>
                  <a:tcPr marL="91425" marR="91425" marT="91425" marB="91425"/>
                </a:tc>
                <a:tc>
                  <a:txBody>
                    <a:bodyPr/>
                    <a:lstStyle/>
                    <a:p>
                      <a:pPr marL="0" lvl="0" indent="0" algn="r" rtl="0">
                        <a:lnSpc>
                          <a:spcPct val="115000"/>
                        </a:lnSpc>
                        <a:spcBef>
                          <a:spcPts val="0"/>
                        </a:spcBef>
                        <a:spcAft>
                          <a:spcPts val="0"/>
                        </a:spcAft>
                        <a:buNone/>
                      </a:pPr>
                      <a:r>
                        <a:rPr lang="en"/>
                        <a:t>53.41%</a:t>
                      </a:r>
                      <a:endParaRPr/>
                    </a:p>
                  </a:txBody>
                  <a:tcPr marL="91425" marR="91425" marT="91425" marB="91425"/>
                </a:tc>
                <a:extLst>
                  <a:ext uri="{0D108BD9-81ED-4DB2-BD59-A6C34878D82A}">
                    <a16:rowId xmlns:a16="http://schemas.microsoft.com/office/drawing/2014/main" val="10006"/>
                  </a:ext>
                </a:extLst>
              </a:tr>
              <a:tr h="0">
                <a:tc>
                  <a:txBody>
                    <a:bodyPr/>
                    <a:lstStyle/>
                    <a:p>
                      <a:pPr marL="0" lvl="0" indent="0" algn="l" rtl="0">
                        <a:spcBef>
                          <a:spcPts val="0"/>
                        </a:spcBef>
                        <a:spcAft>
                          <a:spcPts val="0"/>
                        </a:spcAft>
                        <a:buNone/>
                      </a:pPr>
                      <a:r>
                        <a:rPr lang="en" sz="1100" b="1"/>
                        <a:t>Logistic Regression</a:t>
                      </a:r>
                      <a:endParaRPr sz="1100" b="1"/>
                    </a:p>
                  </a:txBody>
                  <a:tcPr marL="91425" marR="91425" marT="91425" marB="91425"/>
                </a:tc>
                <a:tc>
                  <a:txBody>
                    <a:bodyPr/>
                    <a:lstStyle/>
                    <a:p>
                      <a:pPr marL="0" lvl="0" indent="0" algn="r" rtl="0">
                        <a:lnSpc>
                          <a:spcPct val="115000"/>
                        </a:lnSpc>
                        <a:spcBef>
                          <a:spcPts val="0"/>
                        </a:spcBef>
                        <a:spcAft>
                          <a:spcPts val="0"/>
                        </a:spcAft>
                        <a:buNone/>
                      </a:pPr>
                      <a:r>
                        <a:rPr lang="en"/>
                        <a:t>68.35%</a:t>
                      </a:r>
                      <a:endParaRPr/>
                    </a:p>
                  </a:txBody>
                  <a:tcPr marL="91425" marR="91425" marT="91425" marB="91425"/>
                </a:tc>
                <a:tc>
                  <a:txBody>
                    <a:bodyPr/>
                    <a:lstStyle/>
                    <a:p>
                      <a:pPr marL="0" lvl="0" indent="0" algn="r" rtl="0">
                        <a:lnSpc>
                          <a:spcPct val="115000"/>
                        </a:lnSpc>
                        <a:spcBef>
                          <a:spcPts val="0"/>
                        </a:spcBef>
                        <a:spcAft>
                          <a:spcPts val="0"/>
                        </a:spcAft>
                        <a:buNone/>
                      </a:pPr>
                      <a:r>
                        <a:rPr lang="en"/>
                        <a:t>29.75%</a:t>
                      </a:r>
                      <a:endParaRPr/>
                    </a:p>
                  </a:txBody>
                  <a:tcPr marL="91425" marR="91425" marT="91425" marB="91425"/>
                </a:tc>
                <a:tc>
                  <a:txBody>
                    <a:bodyPr/>
                    <a:lstStyle/>
                    <a:p>
                      <a:pPr marL="0" lvl="0" indent="0" algn="r" rtl="0">
                        <a:lnSpc>
                          <a:spcPct val="115000"/>
                        </a:lnSpc>
                        <a:spcBef>
                          <a:spcPts val="0"/>
                        </a:spcBef>
                        <a:spcAft>
                          <a:spcPts val="0"/>
                        </a:spcAft>
                        <a:buNone/>
                      </a:pPr>
                      <a:r>
                        <a:rPr lang="en"/>
                        <a:t>76.96%</a:t>
                      </a:r>
                      <a:endParaRPr/>
                    </a:p>
                  </a:txBody>
                  <a:tcPr marL="91425" marR="91425" marT="91425" marB="91425"/>
                </a:tc>
                <a:tc>
                  <a:txBody>
                    <a:bodyPr/>
                    <a:lstStyle/>
                    <a:p>
                      <a:pPr marL="0" lvl="0" indent="0" algn="r" rtl="0">
                        <a:lnSpc>
                          <a:spcPct val="115000"/>
                        </a:lnSpc>
                        <a:spcBef>
                          <a:spcPts val="0"/>
                        </a:spcBef>
                        <a:spcAft>
                          <a:spcPts val="0"/>
                        </a:spcAft>
                        <a:buNone/>
                      </a:pPr>
                      <a:r>
                        <a:rPr lang="en"/>
                        <a:t>59.73%</a:t>
                      </a:r>
                      <a:endParaRPr/>
                    </a:p>
                  </a:txBody>
                  <a:tcPr marL="91425" marR="91425" marT="91425" marB="91425"/>
                </a:tc>
                <a:tc>
                  <a:txBody>
                    <a:bodyPr/>
                    <a:lstStyle/>
                    <a:p>
                      <a:pPr marL="0" lvl="0" indent="0" algn="r" rtl="0">
                        <a:lnSpc>
                          <a:spcPct val="115000"/>
                        </a:lnSpc>
                        <a:spcBef>
                          <a:spcPts val="0"/>
                        </a:spcBef>
                        <a:spcAft>
                          <a:spcPts val="0"/>
                        </a:spcAft>
                        <a:buNone/>
                      </a:pPr>
                      <a:r>
                        <a:rPr lang="en"/>
                        <a:t>42.92%</a:t>
                      </a:r>
                      <a:endParaRPr/>
                    </a:p>
                  </a:txBody>
                  <a:tcPr marL="91425" marR="91425" marT="91425" marB="91425"/>
                </a:tc>
                <a:tc>
                  <a:txBody>
                    <a:bodyPr/>
                    <a:lstStyle/>
                    <a:p>
                      <a:pPr marL="0" lvl="0" indent="0" algn="r" rtl="0">
                        <a:lnSpc>
                          <a:spcPct val="115000"/>
                        </a:lnSpc>
                        <a:spcBef>
                          <a:spcPts val="0"/>
                        </a:spcBef>
                        <a:spcAft>
                          <a:spcPts val="0"/>
                        </a:spcAft>
                        <a:buNone/>
                      </a:pPr>
                      <a:r>
                        <a:rPr lang="en"/>
                        <a:t>74.52%</a:t>
                      </a:r>
                      <a:endParaRPr/>
                    </a:p>
                  </a:txBody>
                  <a:tcPr marL="91425" marR="91425" marT="91425" marB="91425"/>
                </a:tc>
                <a:tc>
                  <a:txBody>
                    <a:bodyPr/>
                    <a:lstStyle/>
                    <a:p>
                      <a:pPr marL="0" lvl="0" indent="0" algn="r" rtl="0">
                        <a:lnSpc>
                          <a:spcPct val="115000"/>
                        </a:lnSpc>
                        <a:spcBef>
                          <a:spcPts val="0"/>
                        </a:spcBef>
                        <a:spcAft>
                          <a:spcPts val="0"/>
                        </a:spcAft>
                        <a:buNone/>
                      </a:pPr>
                      <a:r>
                        <a:rPr lang="en"/>
                        <a:t>41.16%</a:t>
                      </a:r>
                      <a:endParaRPr/>
                    </a:p>
                  </a:txBody>
                  <a:tcPr marL="91425" marR="91425" marT="91425" marB="91425"/>
                </a:tc>
                <a:extLst>
                  <a:ext uri="{0D108BD9-81ED-4DB2-BD59-A6C34878D82A}">
                    <a16:rowId xmlns:a16="http://schemas.microsoft.com/office/drawing/2014/main" val="10007"/>
                  </a:ext>
                </a:extLst>
              </a:tr>
              <a:tr h="0">
                <a:tc>
                  <a:txBody>
                    <a:bodyPr/>
                    <a:lstStyle/>
                    <a:p>
                      <a:pPr marL="0" lvl="0" indent="0" algn="l" rtl="0">
                        <a:spcBef>
                          <a:spcPts val="0"/>
                        </a:spcBef>
                        <a:spcAft>
                          <a:spcPts val="0"/>
                        </a:spcAft>
                        <a:buNone/>
                      </a:pPr>
                      <a:r>
                        <a:rPr lang="en" sz="1100" b="1"/>
                        <a:t>Neural Network (MLP)</a:t>
                      </a:r>
                      <a:endParaRPr sz="1100" b="1"/>
                    </a:p>
                  </a:txBody>
                  <a:tcPr marL="91425" marR="91425" marT="91425" marB="91425"/>
                </a:tc>
                <a:tc>
                  <a:txBody>
                    <a:bodyPr/>
                    <a:lstStyle/>
                    <a:p>
                      <a:pPr marL="0" lvl="0" indent="0" algn="r" rtl="0">
                        <a:lnSpc>
                          <a:spcPct val="115000"/>
                        </a:lnSpc>
                        <a:spcBef>
                          <a:spcPts val="0"/>
                        </a:spcBef>
                        <a:spcAft>
                          <a:spcPts val="0"/>
                        </a:spcAft>
                        <a:buNone/>
                      </a:pPr>
                      <a:r>
                        <a:rPr lang="en"/>
                        <a:t>75.44%</a:t>
                      </a:r>
                      <a:endParaRPr/>
                    </a:p>
                  </a:txBody>
                  <a:tcPr marL="91425" marR="91425" marT="91425" marB="91425"/>
                </a:tc>
                <a:tc>
                  <a:txBody>
                    <a:bodyPr/>
                    <a:lstStyle/>
                    <a:p>
                      <a:pPr marL="0" lvl="0" indent="0" algn="r" rtl="0">
                        <a:lnSpc>
                          <a:spcPct val="115000"/>
                        </a:lnSpc>
                        <a:spcBef>
                          <a:spcPts val="0"/>
                        </a:spcBef>
                        <a:spcAft>
                          <a:spcPts val="0"/>
                        </a:spcAft>
                        <a:buNone/>
                      </a:pPr>
                      <a:r>
                        <a:rPr lang="en"/>
                        <a:t>39.11%</a:t>
                      </a:r>
                      <a:endParaRPr/>
                    </a:p>
                  </a:txBody>
                  <a:tcPr marL="91425" marR="91425" marT="91425" marB="91425"/>
                </a:tc>
                <a:tc>
                  <a:txBody>
                    <a:bodyPr/>
                    <a:lstStyle/>
                    <a:p>
                      <a:pPr marL="0" lvl="0" indent="0" algn="r" rtl="0">
                        <a:lnSpc>
                          <a:spcPct val="115000"/>
                        </a:lnSpc>
                        <a:spcBef>
                          <a:spcPts val="0"/>
                        </a:spcBef>
                        <a:spcAft>
                          <a:spcPts val="0"/>
                        </a:spcAft>
                        <a:buNone/>
                      </a:pPr>
                      <a:r>
                        <a:rPr lang="en"/>
                        <a:t>77.70%</a:t>
                      </a:r>
                      <a:endParaRPr/>
                    </a:p>
                  </a:txBody>
                  <a:tcPr marL="91425" marR="91425" marT="91425" marB="91425"/>
                </a:tc>
                <a:tc>
                  <a:txBody>
                    <a:bodyPr/>
                    <a:lstStyle/>
                    <a:p>
                      <a:pPr marL="0" lvl="0" indent="0" algn="r" rtl="0">
                        <a:lnSpc>
                          <a:spcPct val="115000"/>
                        </a:lnSpc>
                        <a:spcBef>
                          <a:spcPts val="0"/>
                        </a:spcBef>
                        <a:spcAft>
                          <a:spcPts val="0"/>
                        </a:spcAft>
                        <a:buNone/>
                      </a:pPr>
                      <a:r>
                        <a:rPr lang="en"/>
                        <a:t>73.19%</a:t>
                      </a:r>
                      <a:endParaRPr/>
                    </a:p>
                  </a:txBody>
                  <a:tcPr marL="91425" marR="91425" marT="91425" marB="91425"/>
                </a:tc>
                <a:tc>
                  <a:txBody>
                    <a:bodyPr/>
                    <a:lstStyle/>
                    <a:p>
                      <a:pPr marL="0" lvl="0" indent="0" algn="r" rtl="0">
                        <a:lnSpc>
                          <a:spcPct val="115000"/>
                        </a:lnSpc>
                        <a:spcBef>
                          <a:spcPts val="0"/>
                        </a:spcBef>
                        <a:spcAft>
                          <a:spcPts val="0"/>
                        </a:spcAft>
                        <a:buNone/>
                      </a:pPr>
                      <a:r>
                        <a:rPr lang="en"/>
                        <a:t>52.03%</a:t>
                      </a:r>
                      <a:endParaRPr/>
                    </a:p>
                  </a:txBody>
                  <a:tcPr marL="91425" marR="91425" marT="91425" marB="91425"/>
                </a:tc>
                <a:tc>
                  <a:txBody>
                    <a:bodyPr/>
                    <a:lstStyle/>
                    <a:p>
                      <a:pPr marL="0" lvl="0" indent="0" algn="r" rtl="0">
                        <a:lnSpc>
                          <a:spcPct val="115000"/>
                        </a:lnSpc>
                        <a:spcBef>
                          <a:spcPts val="0"/>
                        </a:spcBef>
                        <a:spcAft>
                          <a:spcPts val="0"/>
                        </a:spcAft>
                        <a:buNone/>
                      </a:pPr>
                      <a:r>
                        <a:rPr lang="en"/>
                        <a:t>84.39%</a:t>
                      </a:r>
                      <a:endParaRPr/>
                    </a:p>
                  </a:txBody>
                  <a:tcPr marL="91425" marR="91425" marT="91425" marB="91425"/>
                </a:tc>
                <a:tc>
                  <a:txBody>
                    <a:bodyPr/>
                    <a:lstStyle/>
                    <a:p>
                      <a:pPr marL="0" lvl="0" indent="0" algn="r" rtl="0">
                        <a:lnSpc>
                          <a:spcPct val="115000"/>
                        </a:lnSpc>
                        <a:spcBef>
                          <a:spcPts val="0"/>
                        </a:spcBef>
                        <a:spcAft>
                          <a:spcPts val="0"/>
                        </a:spcAft>
                        <a:buNone/>
                      </a:pPr>
                      <a:r>
                        <a:rPr lang="en"/>
                        <a:t>58.01%</a:t>
                      </a:r>
                      <a:endParaRPr/>
                    </a:p>
                  </a:txBody>
                  <a:tcPr marL="91425" marR="91425" marT="91425" marB="91425"/>
                </a:tc>
                <a:extLst>
                  <a:ext uri="{0D108BD9-81ED-4DB2-BD59-A6C34878D82A}">
                    <a16:rowId xmlns:a16="http://schemas.microsoft.com/office/drawing/2014/main" val="10008"/>
                  </a:ext>
                </a:extLst>
              </a:tr>
              <a:tr h="0">
                <a:tc>
                  <a:txBody>
                    <a:bodyPr/>
                    <a:lstStyle/>
                    <a:p>
                      <a:pPr marL="0" lvl="0" indent="0" algn="l" rtl="0">
                        <a:spcBef>
                          <a:spcPts val="0"/>
                        </a:spcBef>
                        <a:spcAft>
                          <a:spcPts val="0"/>
                        </a:spcAft>
                        <a:buNone/>
                      </a:pPr>
                      <a:r>
                        <a:rPr lang="en" sz="1100" b="1"/>
                        <a:t>Ensemble Stacking</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dirty="0"/>
                        <a:t>76.84%</a:t>
                      </a:r>
                      <a:endParaRPr sz="1100" b="1" dirty="0"/>
                    </a:p>
                  </a:txBody>
                  <a:tcPr marL="91425" marR="91425" marT="91425" marB="91425"/>
                </a:tc>
                <a:tc>
                  <a:txBody>
                    <a:bodyPr/>
                    <a:lstStyle/>
                    <a:p>
                      <a:pPr marL="0" lvl="0" indent="0" algn="r" rtl="0">
                        <a:lnSpc>
                          <a:spcPct val="115000"/>
                        </a:lnSpc>
                        <a:spcBef>
                          <a:spcPts val="0"/>
                        </a:spcBef>
                        <a:spcAft>
                          <a:spcPts val="0"/>
                        </a:spcAft>
                        <a:buNone/>
                      </a:pPr>
                      <a:r>
                        <a:rPr lang="en"/>
                        <a:t>42.63%</a:t>
                      </a:r>
                      <a:endParaRPr/>
                    </a:p>
                  </a:txBody>
                  <a:tcPr marL="91425" marR="91425" marT="91425" marB="91425"/>
                </a:tc>
                <a:tc>
                  <a:txBody>
                    <a:bodyPr/>
                    <a:lstStyle/>
                    <a:p>
                      <a:pPr marL="0" lvl="0" indent="0" algn="r" rtl="0">
                        <a:lnSpc>
                          <a:spcPct val="115000"/>
                        </a:lnSpc>
                        <a:spcBef>
                          <a:spcPts val="0"/>
                        </a:spcBef>
                        <a:spcAft>
                          <a:spcPts val="0"/>
                        </a:spcAft>
                        <a:buNone/>
                      </a:pPr>
                      <a:r>
                        <a:rPr lang="en"/>
                        <a:t>76.50%</a:t>
                      </a:r>
                      <a:endParaRPr/>
                    </a:p>
                  </a:txBody>
                  <a:tcPr marL="91425" marR="91425" marT="91425" marB="91425"/>
                </a:tc>
                <a:tc>
                  <a:txBody>
                    <a:bodyPr/>
                    <a:lstStyle/>
                    <a:p>
                      <a:pPr marL="0" lvl="0" indent="0" algn="r" rtl="0">
                        <a:lnSpc>
                          <a:spcPct val="115000"/>
                        </a:lnSpc>
                        <a:spcBef>
                          <a:spcPts val="0"/>
                        </a:spcBef>
                        <a:spcAft>
                          <a:spcPts val="0"/>
                        </a:spcAft>
                        <a:buNone/>
                      </a:pPr>
                      <a:r>
                        <a:rPr lang="en"/>
                        <a:t>77.18%</a:t>
                      </a:r>
                      <a:endParaRPr/>
                    </a:p>
                  </a:txBody>
                  <a:tcPr marL="91425" marR="91425" marT="91425" marB="91425"/>
                </a:tc>
                <a:tc>
                  <a:txBody>
                    <a:bodyPr/>
                    <a:lstStyle/>
                    <a:p>
                      <a:pPr marL="0" lvl="0" indent="0" algn="r" rtl="0">
                        <a:lnSpc>
                          <a:spcPct val="115000"/>
                        </a:lnSpc>
                        <a:spcBef>
                          <a:spcPts val="0"/>
                        </a:spcBef>
                        <a:spcAft>
                          <a:spcPts val="0"/>
                        </a:spcAft>
                        <a:buNone/>
                      </a:pPr>
                      <a:r>
                        <a:rPr lang="en" sz="1100" b="1"/>
                        <a:t>54.75%</a:t>
                      </a:r>
                      <a:endParaRPr sz="1100" b="1"/>
                    </a:p>
                  </a:txBody>
                  <a:tcPr marL="91425" marR="91425" marT="91425" marB="91425"/>
                </a:tc>
                <a:tc>
                  <a:txBody>
                    <a:bodyPr/>
                    <a:lstStyle/>
                    <a:p>
                      <a:pPr marL="0" lvl="0" indent="0" algn="r" rtl="0">
                        <a:lnSpc>
                          <a:spcPct val="115000"/>
                        </a:lnSpc>
                        <a:spcBef>
                          <a:spcPts val="0"/>
                        </a:spcBef>
                        <a:spcAft>
                          <a:spcPts val="0"/>
                        </a:spcAft>
                        <a:buNone/>
                      </a:pPr>
                      <a:r>
                        <a:rPr lang="en"/>
                        <a:t>85.90%</a:t>
                      </a:r>
                      <a:endParaRPr/>
                    </a:p>
                  </a:txBody>
                  <a:tcPr marL="91425" marR="91425" marT="91425" marB="91425"/>
                </a:tc>
                <a:tc>
                  <a:txBody>
                    <a:bodyPr/>
                    <a:lstStyle/>
                    <a:p>
                      <a:pPr marL="0" lvl="0" indent="0" algn="r" rtl="0">
                        <a:lnSpc>
                          <a:spcPct val="115000"/>
                        </a:lnSpc>
                        <a:spcBef>
                          <a:spcPts val="0"/>
                        </a:spcBef>
                        <a:spcAft>
                          <a:spcPts val="0"/>
                        </a:spcAft>
                        <a:buNone/>
                      </a:pPr>
                      <a:r>
                        <a:rPr lang="en" dirty="0"/>
                        <a:t>61.79%</a:t>
                      </a:r>
                      <a:endParaRPr dirty="0"/>
                    </a:p>
                  </a:txBody>
                  <a:tcPr marL="91425" marR="91425" marT="91425" marB="91425"/>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a:t>Performance on BD testing with 8 models + ensemble</a:t>
            </a:r>
            <a:endParaRPr/>
          </a:p>
        </p:txBody>
      </p:sp>
      <p:graphicFrame>
        <p:nvGraphicFramePr>
          <p:cNvPr id="84" name="Google Shape;84;p18"/>
          <p:cNvGraphicFramePr/>
          <p:nvPr>
            <p:extLst>
              <p:ext uri="{D42A27DB-BD31-4B8C-83A1-F6EECF244321}">
                <p14:modId xmlns:p14="http://schemas.microsoft.com/office/powerpoint/2010/main" val="2704126496"/>
              </p:ext>
            </p:extLst>
          </p:nvPr>
        </p:nvGraphicFramePr>
        <p:xfrm>
          <a:off x="221293" y="583205"/>
          <a:ext cx="10203450" cy="3977090"/>
        </p:xfrm>
        <a:graphic>
          <a:graphicData uri="http://schemas.openxmlformats.org/drawingml/2006/table">
            <a:tbl>
              <a:tblPr>
                <a:noFill/>
                <a:tableStyleId>{4E8D13D3-F409-40F9-8654-14557241AADC}</a:tableStyleId>
              </a:tblPr>
              <a:tblGrid>
                <a:gridCol w="2465500">
                  <a:extLst>
                    <a:ext uri="{9D8B030D-6E8A-4147-A177-3AD203B41FA5}">
                      <a16:colId xmlns:a16="http://schemas.microsoft.com/office/drawing/2014/main" val="20000"/>
                    </a:ext>
                  </a:extLst>
                </a:gridCol>
                <a:gridCol w="1270700">
                  <a:extLst>
                    <a:ext uri="{9D8B030D-6E8A-4147-A177-3AD203B41FA5}">
                      <a16:colId xmlns:a16="http://schemas.microsoft.com/office/drawing/2014/main" val="20001"/>
                    </a:ext>
                  </a:extLst>
                </a:gridCol>
                <a:gridCol w="1384500">
                  <a:extLst>
                    <a:ext uri="{9D8B030D-6E8A-4147-A177-3AD203B41FA5}">
                      <a16:colId xmlns:a16="http://schemas.microsoft.com/office/drawing/2014/main" val="20002"/>
                    </a:ext>
                  </a:extLst>
                </a:gridCol>
                <a:gridCol w="1384500">
                  <a:extLst>
                    <a:ext uri="{9D8B030D-6E8A-4147-A177-3AD203B41FA5}">
                      <a16:colId xmlns:a16="http://schemas.microsoft.com/office/drawing/2014/main" val="20003"/>
                    </a:ext>
                  </a:extLst>
                </a:gridCol>
                <a:gridCol w="1024150">
                  <a:extLst>
                    <a:ext uri="{9D8B030D-6E8A-4147-A177-3AD203B41FA5}">
                      <a16:colId xmlns:a16="http://schemas.microsoft.com/office/drawing/2014/main" val="20004"/>
                    </a:ext>
                  </a:extLst>
                </a:gridCol>
                <a:gridCol w="1479300">
                  <a:extLst>
                    <a:ext uri="{9D8B030D-6E8A-4147-A177-3AD203B41FA5}">
                      <a16:colId xmlns:a16="http://schemas.microsoft.com/office/drawing/2014/main" val="20005"/>
                    </a:ext>
                  </a:extLst>
                </a:gridCol>
                <a:gridCol w="1194800">
                  <a:extLst>
                    <a:ext uri="{9D8B030D-6E8A-4147-A177-3AD203B41FA5}">
                      <a16:colId xmlns:a16="http://schemas.microsoft.com/office/drawing/2014/main" val="20006"/>
                    </a:ext>
                  </a:extLst>
                </a:gridCol>
              </a:tblGrid>
              <a:tr h="0">
                <a:tc>
                  <a:txBody>
                    <a:bodyPr/>
                    <a:lstStyle/>
                    <a:p>
                      <a:pPr marL="0" lvl="0" indent="0" algn="ctr" rtl="0">
                        <a:lnSpc>
                          <a:spcPct val="115000"/>
                        </a:lnSpc>
                        <a:spcBef>
                          <a:spcPts val="0"/>
                        </a:spcBef>
                        <a:spcAft>
                          <a:spcPts val="0"/>
                        </a:spcAft>
                        <a:buNone/>
                      </a:pPr>
                      <a:r>
                        <a:rPr lang="en" sz="1100" b="1"/>
                        <a:t>Model</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Accuracy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Sensitivity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Specificity</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F1</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ROC-AUC</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PR-AUC</a:t>
                      </a:r>
                      <a:endParaRPr sz="1100" b="1"/>
                    </a:p>
                  </a:txBody>
                  <a:tcPr marL="91425" marR="91425" marT="91425" marB="91425"/>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t>Extra Trees</a:t>
                      </a:r>
                      <a:endParaRPr/>
                    </a:p>
                  </a:txBody>
                  <a:tcPr marL="91425" marR="91425" marT="91425" marB="91425"/>
                </a:tc>
                <a:tc>
                  <a:txBody>
                    <a:bodyPr/>
                    <a:lstStyle/>
                    <a:p>
                      <a:pPr marL="0" lvl="0" indent="0" algn="r" rtl="0">
                        <a:lnSpc>
                          <a:spcPct val="115000"/>
                        </a:lnSpc>
                        <a:spcBef>
                          <a:spcPts val="0"/>
                        </a:spcBef>
                        <a:spcAft>
                          <a:spcPts val="0"/>
                        </a:spcAft>
                        <a:buNone/>
                      </a:pPr>
                      <a:r>
                        <a:rPr lang="en"/>
                        <a:t>61.74%</a:t>
                      </a:r>
                      <a:endParaRPr/>
                    </a:p>
                  </a:txBody>
                  <a:tcPr marL="91425" marR="91425" marT="91425" marB="91425"/>
                </a:tc>
                <a:tc>
                  <a:txBody>
                    <a:bodyPr/>
                    <a:lstStyle/>
                    <a:p>
                      <a:pPr marL="0" lvl="0" indent="0" algn="r" rtl="0">
                        <a:lnSpc>
                          <a:spcPct val="115000"/>
                        </a:lnSpc>
                        <a:spcBef>
                          <a:spcPts val="0"/>
                        </a:spcBef>
                        <a:spcAft>
                          <a:spcPts val="0"/>
                        </a:spcAft>
                        <a:buNone/>
                      </a:pPr>
                      <a:r>
                        <a:rPr lang="en" sz="1100" b="1"/>
                        <a:t>69.09%</a:t>
                      </a:r>
                      <a:endParaRPr sz="1100" b="1"/>
                    </a:p>
                  </a:txBody>
                  <a:tcPr marL="91425" marR="91425" marT="91425" marB="91425"/>
                </a:tc>
                <a:tc>
                  <a:txBody>
                    <a:bodyPr/>
                    <a:lstStyle/>
                    <a:p>
                      <a:pPr marL="0" lvl="0" indent="0" algn="r" rtl="0">
                        <a:lnSpc>
                          <a:spcPct val="115000"/>
                        </a:lnSpc>
                        <a:spcBef>
                          <a:spcPts val="0"/>
                        </a:spcBef>
                        <a:spcAft>
                          <a:spcPts val="0"/>
                        </a:spcAft>
                        <a:buNone/>
                      </a:pPr>
                      <a:r>
                        <a:rPr lang="en"/>
                        <a:t>59.27%</a:t>
                      </a:r>
                      <a:endParaRPr/>
                    </a:p>
                  </a:txBody>
                  <a:tcPr marL="91425" marR="91425" marT="91425" marB="91425"/>
                </a:tc>
                <a:tc>
                  <a:txBody>
                    <a:bodyPr/>
                    <a:lstStyle/>
                    <a:p>
                      <a:pPr marL="0" lvl="0" indent="0" algn="r" rtl="0">
                        <a:lnSpc>
                          <a:spcPct val="115000"/>
                        </a:lnSpc>
                        <a:spcBef>
                          <a:spcPts val="0"/>
                        </a:spcBef>
                        <a:spcAft>
                          <a:spcPts val="0"/>
                        </a:spcAft>
                        <a:buNone/>
                      </a:pPr>
                      <a:r>
                        <a:rPr lang="en" sz="1100" b="1"/>
                        <a:t>47.63%</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69.80%</a:t>
                      </a:r>
                      <a:endParaRPr sz="1100" b="1"/>
                    </a:p>
                  </a:txBody>
                  <a:tcPr marL="91425" marR="91425" marT="91425" marB="91425"/>
                </a:tc>
                <a:tc>
                  <a:txBody>
                    <a:bodyPr/>
                    <a:lstStyle/>
                    <a:p>
                      <a:pPr marL="0" lvl="0" indent="0" algn="r" rtl="0">
                        <a:lnSpc>
                          <a:spcPct val="115000"/>
                        </a:lnSpc>
                        <a:spcBef>
                          <a:spcPts val="0"/>
                        </a:spcBef>
                        <a:spcAft>
                          <a:spcPts val="0"/>
                        </a:spcAft>
                        <a:buNone/>
                      </a:pPr>
                      <a:r>
                        <a:rPr lang="en"/>
                        <a:t>40.40%</a:t>
                      </a:r>
                      <a:endParaRPr/>
                    </a:p>
                  </a:txBody>
                  <a:tcPr marL="91425" marR="91425" marT="91425" marB="91425"/>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t>XGBoost</a:t>
                      </a:r>
                      <a:endParaRPr/>
                    </a:p>
                  </a:txBody>
                  <a:tcPr marL="91425" marR="91425" marT="91425" marB="91425"/>
                </a:tc>
                <a:tc>
                  <a:txBody>
                    <a:bodyPr/>
                    <a:lstStyle/>
                    <a:p>
                      <a:pPr marL="0" lvl="0" indent="0" algn="r" rtl="0">
                        <a:lnSpc>
                          <a:spcPct val="115000"/>
                        </a:lnSpc>
                        <a:spcBef>
                          <a:spcPts val="0"/>
                        </a:spcBef>
                        <a:spcAft>
                          <a:spcPts val="0"/>
                        </a:spcAft>
                        <a:buNone/>
                      </a:pPr>
                      <a:r>
                        <a:rPr lang="en" sz="1100" b="1"/>
                        <a:t>69.00%</a:t>
                      </a:r>
                      <a:endParaRPr sz="1100" b="1"/>
                    </a:p>
                  </a:txBody>
                  <a:tcPr marL="91425" marR="91425" marT="91425" marB="91425"/>
                </a:tc>
                <a:tc>
                  <a:txBody>
                    <a:bodyPr/>
                    <a:lstStyle/>
                    <a:p>
                      <a:pPr marL="0" lvl="0" indent="0" algn="r" rtl="0">
                        <a:lnSpc>
                          <a:spcPct val="115000"/>
                        </a:lnSpc>
                        <a:spcBef>
                          <a:spcPts val="0"/>
                        </a:spcBef>
                        <a:spcAft>
                          <a:spcPts val="0"/>
                        </a:spcAft>
                        <a:buNone/>
                      </a:pPr>
                      <a:r>
                        <a:rPr lang="en"/>
                        <a:t>48.31%</a:t>
                      </a:r>
                      <a:endParaRPr/>
                    </a:p>
                  </a:txBody>
                  <a:tcPr marL="91425" marR="91425" marT="91425" marB="91425"/>
                </a:tc>
                <a:tc>
                  <a:txBody>
                    <a:bodyPr/>
                    <a:lstStyle/>
                    <a:p>
                      <a:pPr marL="0" lvl="0" indent="0" algn="r" rtl="0">
                        <a:lnSpc>
                          <a:spcPct val="115000"/>
                        </a:lnSpc>
                        <a:spcBef>
                          <a:spcPts val="0"/>
                        </a:spcBef>
                        <a:spcAft>
                          <a:spcPts val="0"/>
                        </a:spcAft>
                        <a:buNone/>
                      </a:pPr>
                      <a:r>
                        <a:rPr lang="en" sz="1100" b="1"/>
                        <a:t>75.96%</a:t>
                      </a:r>
                      <a:endParaRPr sz="1100" b="1"/>
                    </a:p>
                  </a:txBody>
                  <a:tcPr marL="91425" marR="91425" marT="91425" marB="91425"/>
                </a:tc>
                <a:tc>
                  <a:txBody>
                    <a:bodyPr/>
                    <a:lstStyle/>
                    <a:p>
                      <a:pPr marL="0" lvl="0" indent="0" algn="r" rtl="0">
                        <a:lnSpc>
                          <a:spcPct val="115000"/>
                        </a:lnSpc>
                        <a:spcBef>
                          <a:spcPts val="0"/>
                        </a:spcBef>
                        <a:spcAft>
                          <a:spcPts val="0"/>
                        </a:spcAft>
                        <a:buNone/>
                      </a:pPr>
                      <a:r>
                        <a:rPr lang="en"/>
                        <a:t>43.97%</a:t>
                      </a:r>
                      <a:endParaRPr/>
                    </a:p>
                  </a:txBody>
                  <a:tcPr marL="91425" marR="91425" marT="91425" marB="91425"/>
                </a:tc>
                <a:tc>
                  <a:txBody>
                    <a:bodyPr/>
                    <a:lstStyle/>
                    <a:p>
                      <a:pPr marL="0" lvl="0" indent="0" algn="r" rtl="0">
                        <a:lnSpc>
                          <a:spcPct val="115000"/>
                        </a:lnSpc>
                        <a:spcBef>
                          <a:spcPts val="0"/>
                        </a:spcBef>
                        <a:spcAft>
                          <a:spcPts val="0"/>
                        </a:spcAft>
                        <a:buNone/>
                      </a:pPr>
                      <a:r>
                        <a:rPr lang="en"/>
                        <a:t>68.96%</a:t>
                      </a:r>
                      <a:endParaRPr/>
                    </a:p>
                  </a:txBody>
                  <a:tcPr marL="91425" marR="91425" marT="91425" marB="91425"/>
                </a:tc>
                <a:tc>
                  <a:txBody>
                    <a:bodyPr/>
                    <a:lstStyle/>
                    <a:p>
                      <a:pPr marL="0" lvl="0" indent="0" algn="r" rtl="0">
                        <a:lnSpc>
                          <a:spcPct val="115000"/>
                        </a:lnSpc>
                        <a:spcBef>
                          <a:spcPts val="0"/>
                        </a:spcBef>
                        <a:spcAft>
                          <a:spcPts val="0"/>
                        </a:spcAft>
                        <a:buNone/>
                      </a:pPr>
                      <a:r>
                        <a:rPr lang="en" sz="1100" b="1"/>
                        <a:t>41.79%</a:t>
                      </a:r>
                      <a:endParaRPr sz="1100" b="1"/>
                    </a:p>
                  </a:txBody>
                  <a:tcPr marL="91425" marR="91425" marT="91425" marB="91425"/>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a:t>LightGBM</a:t>
                      </a:r>
                      <a:endParaRPr/>
                    </a:p>
                  </a:txBody>
                  <a:tcPr marL="91425" marR="91425" marT="91425" marB="91425"/>
                </a:tc>
                <a:tc>
                  <a:txBody>
                    <a:bodyPr/>
                    <a:lstStyle/>
                    <a:p>
                      <a:pPr marL="0" lvl="0" indent="0" algn="r" rtl="0">
                        <a:lnSpc>
                          <a:spcPct val="115000"/>
                        </a:lnSpc>
                        <a:spcBef>
                          <a:spcPts val="0"/>
                        </a:spcBef>
                        <a:spcAft>
                          <a:spcPts val="0"/>
                        </a:spcAft>
                        <a:buNone/>
                      </a:pPr>
                      <a:r>
                        <a:rPr lang="en"/>
                        <a:t>67.63%</a:t>
                      </a:r>
                      <a:endParaRPr/>
                    </a:p>
                  </a:txBody>
                  <a:tcPr marL="91425" marR="91425" marT="91425" marB="91425"/>
                </a:tc>
                <a:tc>
                  <a:txBody>
                    <a:bodyPr/>
                    <a:lstStyle/>
                    <a:p>
                      <a:pPr marL="0" lvl="0" indent="0" algn="r" rtl="0">
                        <a:lnSpc>
                          <a:spcPct val="115000"/>
                        </a:lnSpc>
                        <a:spcBef>
                          <a:spcPts val="0"/>
                        </a:spcBef>
                        <a:spcAft>
                          <a:spcPts val="0"/>
                        </a:spcAft>
                        <a:buNone/>
                      </a:pPr>
                      <a:r>
                        <a:rPr lang="en"/>
                        <a:t>49.09%</a:t>
                      </a:r>
                      <a:endParaRPr/>
                    </a:p>
                  </a:txBody>
                  <a:tcPr marL="91425" marR="91425" marT="91425" marB="91425"/>
                </a:tc>
                <a:tc>
                  <a:txBody>
                    <a:bodyPr/>
                    <a:lstStyle/>
                    <a:p>
                      <a:pPr marL="0" lvl="0" indent="0" algn="r" rtl="0">
                        <a:lnSpc>
                          <a:spcPct val="115000"/>
                        </a:lnSpc>
                        <a:spcBef>
                          <a:spcPts val="0"/>
                        </a:spcBef>
                        <a:spcAft>
                          <a:spcPts val="0"/>
                        </a:spcAft>
                        <a:buNone/>
                      </a:pPr>
                      <a:r>
                        <a:rPr lang="en"/>
                        <a:t>73.86%</a:t>
                      </a:r>
                      <a:endParaRPr/>
                    </a:p>
                  </a:txBody>
                  <a:tcPr marL="91425" marR="91425" marT="91425" marB="91425"/>
                </a:tc>
                <a:tc>
                  <a:txBody>
                    <a:bodyPr/>
                    <a:lstStyle/>
                    <a:p>
                      <a:pPr marL="0" lvl="0" indent="0" algn="r" rtl="0">
                        <a:lnSpc>
                          <a:spcPct val="115000"/>
                        </a:lnSpc>
                        <a:spcBef>
                          <a:spcPts val="0"/>
                        </a:spcBef>
                        <a:spcAft>
                          <a:spcPts val="0"/>
                        </a:spcAft>
                        <a:buNone/>
                      </a:pPr>
                      <a:r>
                        <a:rPr lang="en"/>
                        <a:t>43.30%</a:t>
                      </a:r>
                      <a:endParaRPr/>
                    </a:p>
                  </a:txBody>
                  <a:tcPr marL="91425" marR="91425" marT="91425" marB="91425"/>
                </a:tc>
                <a:tc>
                  <a:txBody>
                    <a:bodyPr/>
                    <a:lstStyle/>
                    <a:p>
                      <a:pPr marL="0" lvl="0" indent="0" algn="r" rtl="0">
                        <a:lnSpc>
                          <a:spcPct val="115000"/>
                        </a:lnSpc>
                        <a:spcBef>
                          <a:spcPts val="0"/>
                        </a:spcBef>
                        <a:spcAft>
                          <a:spcPts val="0"/>
                        </a:spcAft>
                        <a:buNone/>
                      </a:pPr>
                      <a:r>
                        <a:rPr lang="en"/>
                        <a:t>68.03%</a:t>
                      </a:r>
                      <a:endParaRPr/>
                    </a:p>
                  </a:txBody>
                  <a:tcPr marL="91425" marR="91425" marT="91425" marB="91425"/>
                </a:tc>
                <a:tc>
                  <a:txBody>
                    <a:bodyPr/>
                    <a:lstStyle/>
                    <a:p>
                      <a:pPr marL="0" lvl="0" indent="0" algn="r" rtl="0">
                        <a:lnSpc>
                          <a:spcPct val="115000"/>
                        </a:lnSpc>
                        <a:spcBef>
                          <a:spcPts val="0"/>
                        </a:spcBef>
                        <a:spcAft>
                          <a:spcPts val="0"/>
                        </a:spcAft>
                        <a:buNone/>
                      </a:pPr>
                      <a:r>
                        <a:rPr lang="en"/>
                        <a:t>40.88%</a:t>
                      </a:r>
                      <a:endParaRPr/>
                    </a:p>
                  </a:txBody>
                  <a:tcPr marL="91425" marR="91425" marT="91425" marB="91425"/>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a:t>SVM (RBF)</a:t>
                      </a:r>
                      <a:endParaRPr/>
                    </a:p>
                  </a:txBody>
                  <a:tcPr marL="91425" marR="91425" marT="91425" marB="91425"/>
                </a:tc>
                <a:tc>
                  <a:txBody>
                    <a:bodyPr/>
                    <a:lstStyle/>
                    <a:p>
                      <a:pPr marL="0" lvl="0" indent="0" algn="r" rtl="0">
                        <a:lnSpc>
                          <a:spcPct val="115000"/>
                        </a:lnSpc>
                        <a:spcBef>
                          <a:spcPts val="0"/>
                        </a:spcBef>
                        <a:spcAft>
                          <a:spcPts val="0"/>
                        </a:spcAft>
                        <a:buNone/>
                      </a:pPr>
                      <a:r>
                        <a:rPr lang="en"/>
                        <a:t>48.33%</a:t>
                      </a:r>
                      <a:endParaRPr/>
                    </a:p>
                  </a:txBody>
                  <a:tcPr marL="91425" marR="91425" marT="91425" marB="91425"/>
                </a:tc>
                <a:tc>
                  <a:txBody>
                    <a:bodyPr/>
                    <a:lstStyle/>
                    <a:p>
                      <a:pPr marL="0" lvl="0" indent="0" algn="r" rtl="0">
                        <a:lnSpc>
                          <a:spcPct val="115000"/>
                        </a:lnSpc>
                        <a:spcBef>
                          <a:spcPts val="0"/>
                        </a:spcBef>
                        <a:spcAft>
                          <a:spcPts val="0"/>
                        </a:spcAft>
                        <a:buNone/>
                      </a:pPr>
                      <a:r>
                        <a:rPr lang="en" sz="1100" b="1"/>
                        <a:t>81.30%</a:t>
                      </a:r>
                      <a:endParaRPr sz="1100" b="1"/>
                    </a:p>
                  </a:txBody>
                  <a:tcPr marL="91425" marR="91425" marT="91425" marB="91425"/>
                </a:tc>
                <a:tc>
                  <a:txBody>
                    <a:bodyPr/>
                    <a:lstStyle/>
                    <a:p>
                      <a:pPr marL="0" lvl="0" indent="0" algn="r" rtl="0">
                        <a:lnSpc>
                          <a:spcPct val="115000"/>
                        </a:lnSpc>
                        <a:spcBef>
                          <a:spcPts val="0"/>
                        </a:spcBef>
                        <a:spcAft>
                          <a:spcPts val="0"/>
                        </a:spcAft>
                        <a:buNone/>
                      </a:pPr>
                      <a:r>
                        <a:rPr lang="en"/>
                        <a:t>37.24%</a:t>
                      </a:r>
                      <a:endParaRPr/>
                    </a:p>
                  </a:txBody>
                  <a:tcPr marL="91425" marR="91425" marT="91425" marB="91425"/>
                </a:tc>
                <a:tc>
                  <a:txBody>
                    <a:bodyPr/>
                    <a:lstStyle/>
                    <a:p>
                      <a:pPr marL="0" lvl="0" indent="0" algn="r" rtl="0">
                        <a:lnSpc>
                          <a:spcPct val="115000"/>
                        </a:lnSpc>
                        <a:spcBef>
                          <a:spcPts val="0"/>
                        </a:spcBef>
                        <a:spcAft>
                          <a:spcPts val="0"/>
                        </a:spcAft>
                        <a:buNone/>
                      </a:pPr>
                      <a:r>
                        <a:rPr lang="en"/>
                        <a:t>44.21%</a:t>
                      </a:r>
                      <a:endParaRPr/>
                    </a:p>
                  </a:txBody>
                  <a:tcPr marL="91425" marR="91425" marT="91425" marB="91425"/>
                </a:tc>
                <a:tc>
                  <a:txBody>
                    <a:bodyPr/>
                    <a:lstStyle/>
                    <a:p>
                      <a:pPr marL="0" lvl="0" indent="0" algn="r" rtl="0">
                        <a:lnSpc>
                          <a:spcPct val="115000"/>
                        </a:lnSpc>
                        <a:spcBef>
                          <a:spcPts val="0"/>
                        </a:spcBef>
                        <a:spcAft>
                          <a:spcPts val="0"/>
                        </a:spcAft>
                        <a:buNone/>
                      </a:pPr>
                      <a:r>
                        <a:rPr lang="en"/>
                        <a:t>64.48%</a:t>
                      </a:r>
                      <a:endParaRPr/>
                    </a:p>
                  </a:txBody>
                  <a:tcPr marL="91425" marR="91425" marT="91425" marB="91425"/>
                </a:tc>
                <a:tc>
                  <a:txBody>
                    <a:bodyPr/>
                    <a:lstStyle/>
                    <a:p>
                      <a:pPr marL="0" lvl="0" indent="0" algn="r" rtl="0">
                        <a:lnSpc>
                          <a:spcPct val="115000"/>
                        </a:lnSpc>
                        <a:spcBef>
                          <a:spcPts val="0"/>
                        </a:spcBef>
                        <a:spcAft>
                          <a:spcPts val="0"/>
                        </a:spcAft>
                        <a:buNone/>
                      </a:pPr>
                      <a:r>
                        <a:rPr lang="en"/>
                        <a:t>35.16%</a:t>
                      </a:r>
                      <a:endParaRPr/>
                    </a:p>
                  </a:txBody>
                  <a:tcPr marL="91425" marR="91425" marT="91425" marB="91425"/>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a:t>Random Forest</a:t>
                      </a:r>
                      <a:endParaRPr/>
                    </a:p>
                  </a:txBody>
                  <a:tcPr marL="91425" marR="91425" marT="91425" marB="91425"/>
                </a:tc>
                <a:tc>
                  <a:txBody>
                    <a:bodyPr/>
                    <a:lstStyle/>
                    <a:p>
                      <a:pPr marL="0" lvl="0" indent="0" algn="r" rtl="0">
                        <a:lnSpc>
                          <a:spcPct val="115000"/>
                        </a:lnSpc>
                        <a:spcBef>
                          <a:spcPts val="0"/>
                        </a:spcBef>
                        <a:spcAft>
                          <a:spcPts val="0"/>
                        </a:spcAft>
                        <a:buNone/>
                      </a:pPr>
                      <a:r>
                        <a:rPr lang="en"/>
                        <a:t>58.40%</a:t>
                      </a:r>
                      <a:endParaRPr/>
                    </a:p>
                  </a:txBody>
                  <a:tcPr marL="91425" marR="91425" marT="91425" marB="91425"/>
                </a:tc>
                <a:tc>
                  <a:txBody>
                    <a:bodyPr/>
                    <a:lstStyle/>
                    <a:p>
                      <a:pPr marL="0" lvl="0" indent="0" algn="r" rtl="0">
                        <a:lnSpc>
                          <a:spcPct val="115000"/>
                        </a:lnSpc>
                        <a:spcBef>
                          <a:spcPts val="0"/>
                        </a:spcBef>
                        <a:spcAft>
                          <a:spcPts val="0"/>
                        </a:spcAft>
                        <a:buNone/>
                      </a:pPr>
                      <a:r>
                        <a:rPr lang="en"/>
                        <a:t>71.69%</a:t>
                      </a:r>
                      <a:endParaRPr/>
                    </a:p>
                  </a:txBody>
                  <a:tcPr marL="91425" marR="91425" marT="91425" marB="91425"/>
                </a:tc>
                <a:tc>
                  <a:txBody>
                    <a:bodyPr/>
                    <a:lstStyle/>
                    <a:p>
                      <a:pPr marL="0" lvl="0" indent="0" algn="r" rtl="0">
                        <a:lnSpc>
                          <a:spcPct val="115000"/>
                        </a:lnSpc>
                        <a:spcBef>
                          <a:spcPts val="0"/>
                        </a:spcBef>
                        <a:spcAft>
                          <a:spcPts val="0"/>
                        </a:spcAft>
                        <a:buNone/>
                      </a:pPr>
                      <a:r>
                        <a:rPr lang="en"/>
                        <a:t>53.93%</a:t>
                      </a:r>
                      <a:endParaRPr/>
                    </a:p>
                  </a:txBody>
                  <a:tcPr marL="91425" marR="91425" marT="91425" marB="91425"/>
                </a:tc>
                <a:tc>
                  <a:txBody>
                    <a:bodyPr/>
                    <a:lstStyle/>
                    <a:p>
                      <a:pPr marL="0" lvl="0" indent="0" algn="r" rtl="0">
                        <a:lnSpc>
                          <a:spcPct val="115000"/>
                        </a:lnSpc>
                        <a:spcBef>
                          <a:spcPts val="0"/>
                        </a:spcBef>
                        <a:spcAft>
                          <a:spcPts val="0"/>
                        </a:spcAft>
                        <a:buNone/>
                      </a:pPr>
                      <a:r>
                        <a:rPr lang="en"/>
                        <a:t>46.46%</a:t>
                      </a:r>
                      <a:endParaRPr/>
                    </a:p>
                  </a:txBody>
                  <a:tcPr marL="91425" marR="91425" marT="91425" marB="91425"/>
                </a:tc>
                <a:tc>
                  <a:txBody>
                    <a:bodyPr/>
                    <a:lstStyle/>
                    <a:p>
                      <a:pPr marL="0" lvl="0" indent="0" algn="r" rtl="0">
                        <a:lnSpc>
                          <a:spcPct val="115000"/>
                        </a:lnSpc>
                        <a:spcBef>
                          <a:spcPts val="0"/>
                        </a:spcBef>
                        <a:spcAft>
                          <a:spcPts val="0"/>
                        </a:spcAft>
                        <a:buNone/>
                      </a:pPr>
                      <a:r>
                        <a:rPr lang="en"/>
                        <a:t>68.84%</a:t>
                      </a:r>
                      <a:endParaRPr/>
                    </a:p>
                  </a:txBody>
                  <a:tcPr marL="91425" marR="91425" marT="91425" marB="91425"/>
                </a:tc>
                <a:tc>
                  <a:txBody>
                    <a:bodyPr/>
                    <a:lstStyle/>
                    <a:p>
                      <a:pPr marL="0" lvl="0" indent="0" algn="r" rtl="0">
                        <a:lnSpc>
                          <a:spcPct val="115000"/>
                        </a:lnSpc>
                        <a:spcBef>
                          <a:spcPts val="0"/>
                        </a:spcBef>
                        <a:spcAft>
                          <a:spcPts val="0"/>
                        </a:spcAft>
                        <a:buNone/>
                      </a:pPr>
                      <a:r>
                        <a:rPr lang="en"/>
                        <a:t>40.07%</a:t>
                      </a:r>
                      <a:endParaRPr/>
                    </a:p>
                  </a:txBody>
                  <a:tcPr marL="91425" marR="91425" marT="91425" marB="91425"/>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a:t>KNN</a:t>
                      </a:r>
                      <a:endParaRPr/>
                    </a:p>
                  </a:txBody>
                  <a:tcPr marL="91425" marR="91425" marT="91425" marB="91425"/>
                </a:tc>
                <a:tc>
                  <a:txBody>
                    <a:bodyPr/>
                    <a:lstStyle/>
                    <a:p>
                      <a:pPr marL="0" lvl="0" indent="0" algn="r" rtl="0">
                        <a:lnSpc>
                          <a:spcPct val="115000"/>
                        </a:lnSpc>
                        <a:spcBef>
                          <a:spcPts val="0"/>
                        </a:spcBef>
                        <a:spcAft>
                          <a:spcPts val="0"/>
                        </a:spcAft>
                        <a:buNone/>
                      </a:pPr>
                      <a:r>
                        <a:rPr lang="en"/>
                        <a:t>54.74%</a:t>
                      </a:r>
                      <a:endParaRPr/>
                    </a:p>
                  </a:txBody>
                  <a:tcPr marL="91425" marR="91425" marT="91425" marB="91425"/>
                </a:tc>
                <a:tc>
                  <a:txBody>
                    <a:bodyPr/>
                    <a:lstStyle/>
                    <a:p>
                      <a:pPr marL="0" lvl="0" indent="0" algn="r" rtl="0">
                        <a:lnSpc>
                          <a:spcPct val="115000"/>
                        </a:lnSpc>
                        <a:spcBef>
                          <a:spcPts val="0"/>
                        </a:spcBef>
                        <a:spcAft>
                          <a:spcPts val="0"/>
                        </a:spcAft>
                        <a:buNone/>
                      </a:pPr>
                      <a:r>
                        <a:rPr lang="en"/>
                        <a:t>72.21%</a:t>
                      </a:r>
                      <a:endParaRPr/>
                    </a:p>
                  </a:txBody>
                  <a:tcPr marL="91425" marR="91425" marT="91425" marB="91425"/>
                </a:tc>
                <a:tc>
                  <a:txBody>
                    <a:bodyPr/>
                    <a:lstStyle/>
                    <a:p>
                      <a:pPr marL="0" lvl="0" indent="0" algn="r" rtl="0">
                        <a:lnSpc>
                          <a:spcPct val="115000"/>
                        </a:lnSpc>
                        <a:spcBef>
                          <a:spcPts val="0"/>
                        </a:spcBef>
                        <a:spcAft>
                          <a:spcPts val="0"/>
                        </a:spcAft>
                        <a:buNone/>
                      </a:pPr>
                      <a:r>
                        <a:rPr lang="en"/>
                        <a:t>48.86%</a:t>
                      </a:r>
                      <a:endParaRPr/>
                    </a:p>
                  </a:txBody>
                  <a:tcPr marL="91425" marR="91425" marT="91425" marB="91425"/>
                </a:tc>
                <a:tc>
                  <a:txBody>
                    <a:bodyPr/>
                    <a:lstStyle/>
                    <a:p>
                      <a:pPr marL="0" lvl="0" indent="0" algn="r" rtl="0">
                        <a:lnSpc>
                          <a:spcPct val="115000"/>
                        </a:lnSpc>
                        <a:spcBef>
                          <a:spcPts val="0"/>
                        </a:spcBef>
                        <a:spcAft>
                          <a:spcPts val="0"/>
                        </a:spcAft>
                        <a:buNone/>
                      </a:pPr>
                      <a:r>
                        <a:rPr lang="en"/>
                        <a:t>44.55%</a:t>
                      </a:r>
                      <a:endParaRPr/>
                    </a:p>
                  </a:txBody>
                  <a:tcPr marL="91425" marR="91425" marT="91425" marB="91425"/>
                </a:tc>
                <a:tc>
                  <a:txBody>
                    <a:bodyPr/>
                    <a:lstStyle/>
                    <a:p>
                      <a:pPr marL="0" lvl="0" indent="0" algn="r" rtl="0">
                        <a:lnSpc>
                          <a:spcPct val="115000"/>
                        </a:lnSpc>
                        <a:spcBef>
                          <a:spcPts val="0"/>
                        </a:spcBef>
                        <a:spcAft>
                          <a:spcPts val="0"/>
                        </a:spcAft>
                        <a:buNone/>
                      </a:pPr>
                      <a:r>
                        <a:rPr lang="en"/>
                        <a:t>64.81%</a:t>
                      </a:r>
                      <a:endParaRPr/>
                    </a:p>
                  </a:txBody>
                  <a:tcPr marL="91425" marR="91425" marT="91425" marB="91425"/>
                </a:tc>
                <a:tc>
                  <a:txBody>
                    <a:bodyPr/>
                    <a:lstStyle/>
                    <a:p>
                      <a:pPr marL="0" lvl="0" indent="0" algn="r" rtl="0">
                        <a:lnSpc>
                          <a:spcPct val="115000"/>
                        </a:lnSpc>
                        <a:spcBef>
                          <a:spcPts val="0"/>
                        </a:spcBef>
                        <a:spcAft>
                          <a:spcPts val="0"/>
                        </a:spcAft>
                        <a:buNone/>
                      </a:pPr>
                      <a:r>
                        <a:rPr lang="en"/>
                        <a:t>33.73%</a:t>
                      </a:r>
                      <a:endParaRPr/>
                    </a:p>
                  </a:txBody>
                  <a:tcPr marL="91425" marR="91425" marT="91425" marB="91425"/>
                </a:tc>
                <a:extLst>
                  <a:ext uri="{0D108BD9-81ED-4DB2-BD59-A6C34878D82A}">
                    <a16:rowId xmlns:a16="http://schemas.microsoft.com/office/drawing/2014/main" val="10006"/>
                  </a:ext>
                </a:extLst>
              </a:tr>
              <a:tr h="0">
                <a:tc>
                  <a:txBody>
                    <a:bodyPr/>
                    <a:lstStyle/>
                    <a:p>
                      <a:pPr marL="0" lvl="0" indent="0" algn="l" rtl="0">
                        <a:spcBef>
                          <a:spcPts val="0"/>
                        </a:spcBef>
                        <a:spcAft>
                          <a:spcPts val="0"/>
                        </a:spcAft>
                        <a:buNone/>
                      </a:pPr>
                      <a:r>
                        <a:rPr lang="en"/>
                        <a:t>Logistic Regression</a:t>
                      </a:r>
                      <a:endParaRPr/>
                    </a:p>
                  </a:txBody>
                  <a:tcPr marL="91425" marR="91425" marT="91425" marB="91425"/>
                </a:tc>
                <a:tc>
                  <a:txBody>
                    <a:bodyPr/>
                    <a:lstStyle/>
                    <a:p>
                      <a:pPr marL="0" lvl="0" indent="0" algn="r" rtl="0">
                        <a:lnSpc>
                          <a:spcPct val="115000"/>
                        </a:lnSpc>
                        <a:spcBef>
                          <a:spcPts val="0"/>
                        </a:spcBef>
                        <a:spcAft>
                          <a:spcPts val="0"/>
                        </a:spcAft>
                        <a:buNone/>
                      </a:pPr>
                      <a:r>
                        <a:rPr lang="en"/>
                        <a:t>61.94%</a:t>
                      </a:r>
                      <a:endParaRPr/>
                    </a:p>
                  </a:txBody>
                  <a:tcPr marL="91425" marR="91425" marT="91425" marB="91425"/>
                </a:tc>
                <a:tc>
                  <a:txBody>
                    <a:bodyPr/>
                    <a:lstStyle/>
                    <a:p>
                      <a:pPr marL="0" lvl="0" indent="0" algn="r" rtl="0">
                        <a:lnSpc>
                          <a:spcPct val="115000"/>
                        </a:lnSpc>
                        <a:spcBef>
                          <a:spcPts val="0"/>
                        </a:spcBef>
                        <a:spcAft>
                          <a:spcPts val="0"/>
                        </a:spcAft>
                        <a:buNone/>
                      </a:pPr>
                      <a:r>
                        <a:rPr lang="en"/>
                        <a:t>68.05%</a:t>
                      </a:r>
                      <a:endParaRPr/>
                    </a:p>
                  </a:txBody>
                  <a:tcPr marL="91425" marR="91425" marT="91425" marB="91425"/>
                </a:tc>
                <a:tc>
                  <a:txBody>
                    <a:bodyPr/>
                    <a:lstStyle/>
                    <a:p>
                      <a:pPr marL="0" lvl="0" indent="0" algn="r" rtl="0">
                        <a:lnSpc>
                          <a:spcPct val="115000"/>
                        </a:lnSpc>
                        <a:spcBef>
                          <a:spcPts val="0"/>
                        </a:spcBef>
                        <a:spcAft>
                          <a:spcPts val="0"/>
                        </a:spcAft>
                        <a:buNone/>
                      </a:pPr>
                      <a:r>
                        <a:rPr lang="en"/>
                        <a:t>59.88%</a:t>
                      </a:r>
                      <a:endParaRPr/>
                    </a:p>
                  </a:txBody>
                  <a:tcPr marL="91425" marR="91425" marT="91425" marB="91425"/>
                </a:tc>
                <a:tc>
                  <a:txBody>
                    <a:bodyPr/>
                    <a:lstStyle/>
                    <a:p>
                      <a:pPr marL="0" lvl="0" indent="0" algn="r" rtl="0">
                        <a:lnSpc>
                          <a:spcPct val="115000"/>
                        </a:lnSpc>
                        <a:spcBef>
                          <a:spcPts val="0"/>
                        </a:spcBef>
                        <a:spcAft>
                          <a:spcPts val="0"/>
                        </a:spcAft>
                        <a:buNone/>
                      </a:pPr>
                      <a:r>
                        <a:rPr lang="en"/>
                        <a:t>47.38%</a:t>
                      </a:r>
                      <a:endParaRPr/>
                    </a:p>
                  </a:txBody>
                  <a:tcPr marL="91425" marR="91425" marT="91425" marB="91425"/>
                </a:tc>
                <a:tc>
                  <a:txBody>
                    <a:bodyPr/>
                    <a:lstStyle/>
                    <a:p>
                      <a:pPr marL="0" lvl="0" indent="0" algn="r" rtl="0">
                        <a:lnSpc>
                          <a:spcPct val="115000"/>
                        </a:lnSpc>
                        <a:spcBef>
                          <a:spcPts val="0"/>
                        </a:spcBef>
                        <a:spcAft>
                          <a:spcPts val="0"/>
                        </a:spcAft>
                        <a:buNone/>
                      </a:pPr>
                      <a:r>
                        <a:rPr lang="en"/>
                        <a:t>68.93%</a:t>
                      </a:r>
                      <a:endParaRPr/>
                    </a:p>
                  </a:txBody>
                  <a:tcPr marL="91425" marR="91425" marT="91425" marB="91425"/>
                </a:tc>
                <a:tc>
                  <a:txBody>
                    <a:bodyPr/>
                    <a:lstStyle/>
                    <a:p>
                      <a:pPr marL="0" lvl="0" indent="0" algn="r" rtl="0">
                        <a:lnSpc>
                          <a:spcPct val="115000"/>
                        </a:lnSpc>
                        <a:spcBef>
                          <a:spcPts val="0"/>
                        </a:spcBef>
                        <a:spcAft>
                          <a:spcPts val="0"/>
                        </a:spcAft>
                        <a:buNone/>
                      </a:pPr>
                      <a:r>
                        <a:rPr lang="en"/>
                        <a:t>40.62%</a:t>
                      </a:r>
                      <a:endParaRPr/>
                    </a:p>
                  </a:txBody>
                  <a:tcPr marL="91425" marR="91425" marT="91425" marB="91425"/>
                </a:tc>
                <a:extLst>
                  <a:ext uri="{0D108BD9-81ED-4DB2-BD59-A6C34878D82A}">
                    <a16:rowId xmlns:a16="http://schemas.microsoft.com/office/drawing/2014/main" val="10007"/>
                  </a:ext>
                </a:extLst>
              </a:tr>
              <a:tr h="0">
                <a:tc>
                  <a:txBody>
                    <a:bodyPr/>
                    <a:lstStyle/>
                    <a:p>
                      <a:pPr marL="0" lvl="0" indent="0" algn="l" rtl="0">
                        <a:spcBef>
                          <a:spcPts val="0"/>
                        </a:spcBef>
                        <a:spcAft>
                          <a:spcPts val="0"/>
                        </a:spcAft>
                        <a:buNone/>
                      </a:pPr>
                      <a:r>
                        <a:rPr lang="en"/>
                        <a:t>MLP</a:t>
                      </a:r>
                      <a:endParaRPr/>
                    </a:p>
                  </a:txBody>
                  <a:tcPr marL="91425" marR="91425" marT="91425" marB="91425"/>
                </a:tc>
                <a:tc>
                  <a:txBody>
                    <a:bodyPr/>
                    <a:lstStyle/>
                    <a:p>
                      <a:pPr marL="0" lvl="0" indent="0" algn="r" rtl="0">
                        <a:lnSpc>
                          <a:spcPct val="115000"/>
                        </a:lnSpc>
                        <a:spcBef>
                          <a:spcPts val="0"/>
                        </a:spcBef>
                        <a:spcAft>
                          <a:spcPts val="0"/>
                        </a:spcAft>
                        <a:buNone/>
                      </a:pPr>
                      <a:r>
                        <a:rPr lang="en"/>
                        <a:t>53.04%</a:t>
                      </a:r>
                      <a:endParaRPr/>
                    </a:p>
                  </a:txBody>
                  <a:tcPr marL="91425" marR="91425" marT="91425" marB="91425"/>
                </a:tc>
                <a:tc>
                  <a:txBody>
                    <a:bodyPr/>
                    <a:lstStyle/>
                    <a:p>
                      <a:pPr marL="0" lvl="0" indent="0" algn="r" rtl="0">
                        <a:lnSpc>
                          <a:spcPct val="115000"/>
                        </a:lnSpc>
                        <a:spcBef>
                          <a:spcPts val="0"/>
                        </a:spcBef>
                        <a:spcAft>
                          <a:spcPts val="0"/>
                        </a:spcAft>
                        <a:buNone/>
                      </a:pPr>
                      <a:r>
                        <a:rPr lang="en"/>
                        <a:t>73.51%</a:t>
                      </a:r>
                      <a:endParaRPr/>
                    </a:p>
                  </a:txBody>
                  <a:tcPr marL="91425" marR="91425" marT="91425" marB="91425"/>
                </a:tc>
                <a:tc>
                  <a:txBody>
                    <a:bodyPr/>
                    <a:lstStyle/>
                    <a:p>
                      <a:pPr marL="0" lvl="0" indent="0" algn="r" rtl="0">
                        <a:lnSpc>
                          <a:spcPct val="115000"/>
                        </a:lnSpc>
                        <a:spcBef>
                          <a:spcPts val="0"/>
                        </a:spcBef>
                        <a:spcAft>
                          <a:spcPts val="0"/>
                        </a:spcAft>
                        <a:buNone/>
                      </a:pPr>
                      <a:r>
                        <a:rPr lang="en"/>
                        <a:t>46.15%</a:t>
                      </a:r>
                      <a:endParaRPr/>
                    </a:p>
                  </a:txBody>
                  <a:tcPr marL="91425" marR="91425" marT="91425" marB="91425"/>
                </a:tc>
                <a:tc>
                  <a:txBody>
                    <a:bodyPr/>
                    <a:lstStyle/>
                    <a:p>
                      <a:pPr marL="0" lvl="0" indent="0" algn="r" rtl="0">
                        <a:lnSpc>
                          <a:spcPct val="115000"/>
                        </a:lnSpc>
                        <a:spcBef>
                          <a:spcPts val="0"/>
                        </a:spcBef>
                        <a:spcAft>
                          <a:spcPts val="0"/>
                        </a:spcAft>
                        <a:buNone/>
                      </a:pPr>
                      <a:r>
                        <a:rPr lang="en"/>
                        <a:t>44.08%</a:t>
                      </a:r>
                      <a:endParaRPr/>
                    </a:p>
                  </a:txBody>
                  <a:tcPr marL="91425" marR="91425" marT="91425" marB="91425"/>
                </a:tc>
                <a:tc>
                  <a:txBody>
                    <a:bodyPr/>
                    <a:lstStyle/>
                    <a:p>
                      <a:pPr marL="0" lvl="0" indent="0" algn="r" rtl="0">
                        <a:lnSpc>
                          <a:spcPct val="115000"/>
                        </a:lnSpc>
                        <a:spcBef>
                          <a:spcPts val="0"/>
                        </a:spcBef>
                        <a:spcAft>
                          <a:spcPts val="0"/>
                        </a:spcAft>
                        <a:buNone/>
                      </a:pPr>
                      <a:r>
                        <a:rPr lang="en"/>
                        <a:t>59.39%</a:t>
                      </a:r>
                      <a:endParaRPr/>
                    </a:p>
                  </a:txBody>
                  <a:tcPr marL="91425" marR="91425" marT="91425" marB="91425"/>
                </a:tc>
                <a:tc>
                  <a:txBody>
                    <a:bodyPr/>
                    <a:lstStyle/>
                    <a:p>
                      <a:pPr marL="0" lvl="0" indent="0" algn="r" rtl="0">
                        <a:lnSpc>
                          <a:spcPct val="115000"/>
                        </a:lnSpc>
                        <a:spcBef>
                          <a:spcPts val="0"/>
                        </a:spcBef>
                        <a:spcAft>
                          <a:spcPts val="0"/>
                        </a:spcAft>
                        <a:buNone/>
                      </a:pPr>
                      <a:r>
                        <a:rPr lang="en"/>
                        <a:t>28.98%</a:t>
                      </a:r>
                      <a:endParaRPr/>
                    </a:p>
                  </a:txBody>
                  <a:tcPr marL="91425" marR="91425" marT="91425" marB="91425"/>
                </a:tc>
                <a:extLst>
                  <a:ext uri="{0D108BD9-81ED-4DB2-BD59-A6C34878D82A}">
                    <a16:rowId xmlns:a16="http://schemas.microsoft.com/office/drawing/2014/main" val="10008"/>
                  </a:ext>
                </a:extLst>
              </a:tr>
              <a:tr h="0">
                <a:tc>
                  <a:txBody>
                    <a:bodyPr/>
                    <a:lstStyle/>
                    <a:p>
                      <a:pPr marL="0" lvl="0" indent="0" algn="l" rtl="0">
                        <a:spcBef>
                          <a:spcPts val="0"/>
                        </a:spcBef>
                        <a:spcAft>
                          <a:spcPts val="0"/>
                        </a:spcAft>
                        <a:buNone/>
                      </a:pPr>
                      <a:r>
                        <a:rPr lang="en" sz="1100" b="1"/>
                        <a:t>Final Ensemble</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65.34%</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56.88%</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68.18%</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45.25%</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a:t>67.12%</a:t>
                      </a:r>
                      <a:endParaRPr sz="1100" b="1"/>
                    </a:p>
                  </a:txBody>
                  <a:tcPr marL="91425" marR="91425" marT="91425" marB="91425"/>
                </a:tc>
                <a:tc>
                  <a:txBody>
                    <a:bodyPr/>
                    <a:lstStyle/>
                    <a:p>
                      <a:pPr marL="0" lvl="0" indent="0" algn="r" rtl="0">
                        <a:lnSpc>
                          <a:spcPct val="115000"/>
                        </a:lnSpc>
                        <a:spcBef>
                          <a:spcPts val="0"/>
                        </a:spcBef>
                        <a:spcAft>
                          <a:spcPts val="0"/>
                        </a:spcAft>
                        <a:buNone/>
                      </a:pPr>
                      <a:r>
                        <a:rPr lang="en" sz="1100" b="1" dirty="0"/>
                        <a:t>39.58%</a:t>
                      </a:r>
                      <a:endParaRPr sz="1100" b="1" dirty="0"/>
                    </a:p>
                  </a:txBody>
                  <a:tcPr marL="91425" marR="91425" marT="91425" marB="91425"/>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D9A7-4AF5-9AFB-15C6-6F818C84CBD1}"/>
              </a:ext>
            </a:extLst>
          </p:cNvPr>
          <p:cNvSpPr>
            <a:spLocks noGrp="1"/>
          </p:cNvSpPr>
          <p:nvPr>
            <p:ph type="title"/>
          </p:nvPr>
        </p:nvSpPr>
        <p:spPr/>
        <p:txBody>
          <a:bodyPr>
            <a:normAutofit fontScale="90000"/>
          </a:bodyPr>
          <a:lstStyle/>
          <a:p>
            <a:r>
              <a:rPr lang="en-US" dirty="0"/>
              <a:t>BD performance at threshold 0.5</a:t>
            </a:r>
          </a:p>
        </p:txBody>
      </p:sp>
      <p:graphicFrame>
        <p:nvGraphicFramePr>
          <p:cNvPr id="4" name="Table 3">
            <a:extLst>
              <a:ext uri="{FF2B5EF4-FFF2-40B4-BE49-F238E27FC236}">
                <a16:creationId xmlns:a16="http://schemas.microsoft.com/office/drawing/2014/main" id="{FA126DB4-4CE1-0F46-0BD2-1428CD6F7F3A}"/>
              </a:ext>
            </a:extLst>
          </p:cNvPr>
          <p:cNvGraphicFramePr>
            <a:graphicFrameLocks noGrp="1"/>
          </p:cNvGraphicFramePr>
          <p:nvPr/>
        </p:nvGraphicFramePr>
        <p:xfrm>
          <a:off x="625137" y="1149385"/>
          <a:ext cx="7893725" cy="3422580"/>
        </p:xfrm>
        <a:graphic>
          <a:graphicData uri="http://schemas.openxmlformats.org/drawingml/2006/table">
            <a:tbl>
              <a:tblPr/>
              <a:tblGrid>
                <a:gridCol w="1127675">
                  <a:extLst>
                    <a:ext uri="{9D8B030D-6E8A-4147-A177-3AD203B41FA5}">
                      <a16:colId xmlns:a16="http://schemas.microsoft.com/office/drawing/2014/main" val="2447967319"/>
                    </a:ext>
                  </a:extLst>
                </a:gridCol>
                <a:gridCol w="1127675">
                  <a:extLst>
                    <a:ext uri="{9D8B030D-6E8A-4147-A177-3AD203B41FA5}">
                      <a16:colId xmlns:a16="http://schemas.microsoft.com/office/drawing/2014/main" val="781201243"/>
                    </a:ext>
                  </a:extLst>
                </a:gridCol>
                <a:gridCol w="1127675">
                  <a:extLst>
                    <a:ext uri="{9D8B030D-6E8A-4147-A177-3AD203B41FA5}">
                      <a16:colId xmlns:a16="http://schemas.microsoft.com/office/drawing/2014/main" val="3080506735"/>
                    </a:ext>
                  </a:extLst>
                </a:gridCol>
                <a:gridCol w="1127675">
                  <a:extLst>
                    <a:ext uri="{9D8B030D-6E8A-4147-A177-3AD203B41FA5}">
                      <a16:colId xmlns:a16="http://schemas.microsoft.com/office/drawing/2014/main" val="2234289477"/>
                    </a:ext>
                  </a:extLst>
                </a:gridCol>
                <a:gridCol w="1127675">
                  <a:extLst>
                    <a:ext uri="{9D8B030D-6E8A-4147-A177-3AD203B41FA5}">
                      <a16:colId xmlns:a16="http://schemas.microsoft.com/office/drawing/2014/main" val="2091595888"/>
                    </a:ext>
                  </a:extLst>
                </a:gridCol>
                <a:gridCol w="1127675">
                  <a:extLst>
                    <a:ext uri="{9D8B030D-6E8A-4147-A177-3AD203B41FA5}">
                      <a16:colId xmlns:a16="http://schemas.microsoft.com/office/drawing/2014/main" val="158149783"/>
                    </a:ext>
                  </a:extLst>
                </a:gridCol>
                <a:gridCol w="1127675">
                  <a:extLst>
                    <a:ext uri="{9D8B030D-6E8A-4147-A177-3AD203B41FA5}">
                      <a16:colId xmlns:a16="http://schemas.microsoft.com/office/drawing/2014/main" val="2808657656"/>
                    </a:ext>
                  </a:extLst>
                </a:gridCol>
              </a:tblGrid>
              <a:tr h="282339">
                <a:tc>
                  <a:txBody>
                    <a:bodyPr/>
                    <a:lstStyle/>
                    <a:p>
                      <a:r>
                        <a:rPr lang="en-US" sz="1300" dirty="0"/>
                        <a:t>Model</a:t>
                      </a:r>
                    </a:p>
                  </a:txBody>
                  <a:tcPr marL="84702" marR="84702" marT="42351" marB="42351" anchor="ctr">
                    <a:lnL>
                      <a:noFill/>
                    </a:lnL>
                    <a:lnR>
                      <a:noFill/>
                    </a:lnR>
                    <a:lnT>
                      <a:noFill/>
                    </a:lnT>
                    <a:lnB>
                      <a:noFill/>
                    </a:lnB>
                    <a:noFill/>
                  </a:tcPr>
                </a:tc>
                <a:tc>
                  <a:txBody>
                    <a:bodyPr/>
                    <a:lstStyle/>
                    <a:p>
                      <a:pPr algn="r"/>
                      <a:r>
                        <a:rPr lang="en-US" sz="1300"/>
                        <a:t>Accuracy</a:t>
                      </a:r>
                    </a:p>
                  </a:txBody>
                  <a:tcPr marL="84702" marR="84702" marT="42351" marB="42351" anchor="ctr">
                    <a:lnL>
                      <a:noFill/>
                    </a:lnL>
                    <a:lnR>
                      <a:noFill/>
                    </a:lnR>
                    <a:lnT>
                      <a:noFill/>
                    </a:lnT>
                    <a:lnB>
                      <a:noFill/>
                    </a:lnB>
                    <a:noFill/>
                  </a:tcPr>
                </a:tc>
                <a:tc>
                  <a:txBody>
                    <a:bodyPr/>
                    <a:lstStyle/>
                    <a:p>
                      <a:pPr algn="r"/>
                      <a:r>
                        <a:rPr lang="en-US" sz="1300"/>
                        <a:t>Precision</a:t>
                      </a:r>
                    </a:p>
                  </a:txBody>
                  <a:tcPr marL="84702" marR="84702" marT="42351" marB="42351" anchor="ctr">
                    <a:lnL>
                      <a:noFill/>
                    </a:lnL>
                    <a:lnR>
                      <a:noFill/>
                    </a:lnR>
                    <a:lnT>
                      <a:noFill/>
                    </a:lnT>
                    <a:lnB>
                      <a:noFill/>
                    </a:lnB>
                    <a:noFill/>
                  </a:tcPr>
                </a:tc>
                <a:tc>
                  <a:txBody>
                    <a:bodyPr/>
                    <a:lstStyle/>
                    <a:p>
                      <a:pPr algn="r"/>
                      <a:r>
                        <a:rPr lang="en-US" sz="1300"/>
                        <a:t>Sensitivity</a:t>
                      </a:r>
                    </a:p>
                  </a:txBody>
                  <a:tcPr marL="84702" marR="84702" marT="42351" marB="42351" anchor="ctr">
                    <a:lnL>
                      <a:noFill/>
                    </a:lnL>
                    <a:lnR>
                      <a:noFill/>
                    </a:lnR>
                    <a:lnT>
                      <a:noFill/>
                    </a:lnT>
                    <a:lnB>
                      <a:noFill/>
                    </a:lnB>
                    <a:noFill/>
                  </a:tcPr>
                </a:tc>
                <a:tc>
                  <a:txBody>
                    <a:bodyPr/>
                    <a:lstStyle/>
                    <a:p>
                      <a:pPr algn="r"/>
                      <a:r>
                        <a:rPr lang="en-US" sz="1300"/>
                        <a:t>Specificity</a:t>
                      </a:r>
                    </a:p>
                  </a:txBody>
                  <a:tcPr marL="84702" marR="84702" marT="42351" marB="42351" anchor="ctr">
                    <a:lnL>
                      <a:noFill/>
                    </a:lnL>
                    <a:lnR>
                      <a:noFill/>
                    </a:lnR>
                    <a:lnT>
                      <a:noFill/>
                    </a:lnT>
                    <a:lnB>
                      <a:noFill/>
                    </a:lnB>
                    <a:noFill/>
                  </a:tcPr>
                </a:tc>
                <a:tc>
                  <a:txBody>
                    <a:bodyPr/>
                    <a:lstStyle/>
                    <a:p>
                      <a:pPr algn="r"/>
                      <a:r>
                        <a:rPr lang="en-US" sz="1300"/>
                        <a:t>F1</a:t>
                      </a:r>
                    </a:p>
                  </a:txBody>
                  <a:tcPr marL="84702" marR="84702" marT="42351" marB="42351" anchor="ctr">
                    <a:lnL>
                      <a:noFill/>
                    </a:lnL>
                    <a:lnR>
                      <a:noFill/>
                    </a:lnR>
                    <a:lnT>
                      <a:noFill/>
                    </a:lnT>
                    <a:lnB>
                      <a:noFill/>
                    </a:lnB>
                    <a:noFill/>
                  </a:tcPr>
                </a:tc>
                <a:tc>
                  <a:txBody>
                    <a:bodyPr/>
                    <a:lstStyle/>
                    <a:p>
                      <a:pPr algn="r"/>
                      <a:r>
                        <a:rPr lang="en-US" sz="1300"/>
                        <a:t>ROC-AUC</a:t>
                      </a:r>
                    </a:p>
                  </a:txBody>
                  <a:tcPr marL="84702" marR="84702" marT="42351" marB="42351" anchor="ctr">
                    <a:lnL>
                      <a:noFill/>
                    </a:lnL>
                    <a:lnR>
                      <a:noFill/>
                    </a:lnR>
                    <a:lnT>
                      <a:noFill/>
                    </a:lnT>
                    <a:lnB>
                      <a:noFill/>
                    </a:lnB>
                    <a:noFill/>
                  </a:tcPr>
                </a:tc>
                <a:extLst>
                  <a:ext uri="{0D108BD9-81ED-4DB2-BD59-A6C34878D82A}">
                    <a16:rowId xmlns:a16="http://schemas.microsoft.com/office/drawing/2014/main" val="2498266820"/>
                  </a:ext>
                </a:extLst>
              </a:tr>
              <a:tr h="282339">
                <a:tc>
                  <a:txBody>
                    <a:bodyPr/>
                    <a:lstStyle/>
                    <a:p>
                      <a:r>
                        <a:rPr lang="en-US" sz="1300" dirty="0"/>
                        <a:t>Extra Trees</a:t>
                      </a:r>
                    </a:p>
                  </a:txBody>
                  <a:tcPr marL="84702" marR="84702" marT="42351" marB="42351" anchor="ctr">
                    <a:lnL>
                      <a:noFill/>
                    </a:lnL>
                    <a:lnR>
                      <a:noFill/>
                    </a:lnR>
                    <a:lnT>
                      <a:noFill/>
                    </a:lnT>
                    <a:lnB>
                      <a:noFill/>
                    </a:lnB>
                    <a:noFill/>
                  </a:tcPr>
                </a:tc>
                <a:tc>
                  <a:txBody>
                    <a:bodyPr/>
                    <a:lstStyle/>
                    <a:p>
                      <a:pPr algn="r"/>
                      <a:r>
                        <a:rPr lang="en-US" sz="1300"/>
                        <a:t>74.23%</a:t>
                      </a:r>
                    </a:p>
                  </a:txBody>
                  <a:tcPr marL="84702" marR="84702" marT="42351" marB="42351" anchor="ctr">
                    <a:lnL>
                      <a:noFill/>
                    </a:lnL>
                    <a:lnR>
                      <a:noFill/>
                    </a:lnR>
                    <a:lnT>
                      <a:noFill/>
                    </a:lnT>
                    <a:lnB>
                      <a:noFill/>
                    </a:lnB>
                    <a:noFill/>
                  </a:tcPr>
                </a:tc>
                <a:tc>
                  <a:txBody>
                    <a:bodyPr/>
                    <a:lstStyle/>
                    <a:p>
                      <a:pPr algn="r"/>
                      <a:r>
                        <a:rPr lang="en-US" sz="1300"/>
                        <a:t>45.71%</a:t>
                      </a:r>
                    </a:p>
                  </a:txBody>
                  <a:tcPr marL="84702" marR="84702" marT="42351" marB="42351" anchor="ctr">
                    <a:lnL>
                      <a:noFill/>
                    </a:lnL>
                    <a:lnR>
                      <a:noFill/>
                    </a:lnR>
                    <a:lnT>
                      <a:noFill/>
                    </a:lnT>
                    <a:lnB>
                      <a:noFill/>
                    </a:lnB>
                    <a:noFill/>
                  </a:tcPr>
                </a:tc>
                <a:tc>
                  <a:txBody>
                    <a:bodyPr/>
                    <a:lstStyle/>
                    <a:p>
                      <a:pPr algn="r"/>
                      <a:r>
                        <a:rPr lang="en-US" sz="1300"/>
                        <a:t>12.47%</a:t>
                      </a:r>
                    </a:p>
                  </a:txBody>
                  <a:tcPr marL="84702" marR="84702" marT="42351" marB="42351" anchor="ctr">
                    <a:lnL>
                      <a:noFill/>
                    </a:lnL>
                    <a:lnR>
                      <a:noFill/>
                    </a:lnR>
                    <a:lnT>
                      <a:noFill/>
                    </a:lnT>
                    <a:lnB>
                      <a:noFill/>
                    </a:lnB>
                    <a:noFill/>
                  </a:tcPr>
                </a:tc>
                <a:tc>
                  <a:txBody>
                    <a:bodyPr/>
                    <a:lstStyle/>
                    <a:p>
                      <a:pPr algn="r"/>
                      <a:r>
                        <a:rPr lang="en-US" sz="1300"/>
                        <a:t>95.02%</a:t>
                      </a:r>
                    </a:p>
                  </a:txBody>
                  <a:tcPr marL="84702" marR="84702" marT="42351" marB="42351" anchor="ctr">
                    <a:lnL>
                      <a:noFill/>
                    </a:lnL>
                    <a:lnR>
                      <a:noFill/>
                    </a:lnR>
                    <a:lnT>
                      <a:noFill/>
                    </a:lnT>
                    <a:lnB>
                      <a:noFill/>
                    </a:lnB>
                    <a:noFill/>
                  </a:tcPr>
                </a:tc>
                <a:tc>
                  <a:txBody>
                    <a:bodyPr/>
                    <a:lstStyle/>
                    <a:p>
                      <a:pPr algn="r"/>
                      <a:r>
                        <a:rPr lang="en-US" sz="1300"/>
                        <a:t>19.59%</a:t>
                      </a:r>
                    </a:p>
                  </a:txBody>
                  <a:tcPr marL="84702" marR="84702" marT="42351" marB="42351" anchor="ctr">
                    <a:lnL>
                      <a:noFill/>
                    </a:lnL>
                    <a:lnR>
                      <a:noFill/>
                    </a:lnR>
                    <a:lnT>
                      <a:noFill/>
                    </a:lnT>
                    <a:lnB>
                      <a:noFill/>
                    </a:lnB>
                    <a:noFill/>
                  </a:tcPr>
                </a:tc>
                <a:tc>
                  <a:txBody>
                    <a:bodyPr/>
                    <a:lstStyle/>
                    <a:p>
                      <a:pPr algn="r"/>
                      <a:r>
                        <a:rPr lang="en-US" sz="1300"/>
                        <a:t>69.80%</a:t>
                      </a:r>
                    </a:p>
                  </a:txBody>
                  <a:tcPr marL="84702" marR="84702" marT="42351" marB="42351" anchor="ctr">
                    <a:lnL>
                      <a:noFill/>
                    </a:lnL>
                    <a:lnR>
                      <a:noFill/>
                    </a:lnR>
                    <a:lnT>
                      <a:noFill/>
                    </a:lnT>
                    <a:lnB>
                      <a:noFill/>
                    </a:lnB>
                    <a:noFill/>
                  </a:tcPr>
                </a:tc>
                <a:extLst>
                  <a:ext uri="{0D108BD9-81ED-4DB2-BD59-A6C34878D82A}">
                    <a16:rowId xmlns:a16="http://schemas.microsoft.com/office/drawing/2014/main" val="808370169"/>
                  </a:ext>
                </a:extLst>
              </a:tr>
              <a:tr h="282339">
                <a:tc>
                  <a:txBody>
                    <a:bodyPr/>
                    <a:lstStyle/>
                    <a:p>
                      <a:r>
                        <a:rPr lang="en-US" sz="1300" dirty="0" err="1"/>
                        <a:t>XGBoost</a:t>
                      </a:r>
                      <a:endParaRPr lang="en-US" sz="1300" dirty="0"/>
                    </a:p>
                  </a:txBody>
                  <a:tcPr marL="84702" marR="84702" marT="42351" marB="42351" anchor="ctr">
                    <a:lnL>
                      <a:noFill/>
                    </a:lnL>
                    <a:lnR>
                      <a:noFill/>
                    </a:lnR>
                    <a:lnT>
                      <a:noFill/>
                    </a:lnT>
                    <a:lnB>
                      <a:noFill/>
                    </a:lnB>
                    <a:noFill/>
                  </a:tcPr>
                </a:tc>
                <a:tc>
                  <a:txBody>
                    <a:bodyPr/>
                    <a:lstStyle/>
                    <a:p>
                      <a:pPr algn="r"/>
                      <a:r>
                        <a:rPr lang="en-US" sz="1300" b="1" dirty="0"/>
                        <a:t>75.28%</a:t>
                      </a:r>
                      <a:endParaRPr lang="en-US" sz="1300" dirty="0"/>
                    </a:p>
                  </a:txBody>
                  <a:tcPr marL="84702" marR="84702" marT="42351" marB="42351" anchor="ctr">
                    <a:lnL>
                      <a:noFill/>
                    </a:lnL>
                    <a:lnR>
                      <a:noFill/>
                    </a:lnR>
                    <a:lnT>
                      <a:noFill/>
                    </a:lnT>
                    <a:lnB>
                      <a:noFill/>
                    </a:lnB>
                    <a:noFill/>
                  </a:tcPr>
                </a:tc>
                <a:tc>
                  <a:txBody>
                    <a:bodyPr/>
                    <a:lstStyle/>
                    <a:p>
                      <a:pPr algn="r"/>
                      <a:r>
                        <a:rPr lang="en-US" sz="1300" b="1" dirty="0"/>
                        <a:t>54.22%</a:t>
                      </a:r>
                      <a:endParaRPr lang="en-US" sz="1300" dirty="0"/>
                    </a:p>
                  </a:txBody>
                  <a:tcPr marL="84702" marR="84702" marT="42351" marB="42351" anchor="ctr">
                    <a:lnL>
                      <a:noFill/>
                    </a:lnL>
                    <a:lnR>
                      <a:noFill/>
                    </a:lnR>
                    <a:lnT>
                      <a:noFill/>
                    </a:lnT>
                    <a:lnB>
                      <a:noFill/>
                    </a:lnB>
                    <a:noFill/>
                  </a:tcPr>
                </a:tc>
                <a:tc>
                  <a:txBody>
                    <a:bodyPr/>
                    <a:lstStyle/>
                    <a:p>
                      <a:pPr algn="r"/>
                      <a:r>
                        <a:rPr lang="en-US" sz="1300"/>
                        <a:t>11.69%</a:t>
                      </a:r>
                    </a:p>
                  </a:txBody>
                  <a:tcPr marL="84702" marR="84702" marT="42351" marB="42351" anchor="ctr">
                    <a:lnL>
                      <a:noFill/>
                    </a:lnL>
                    <a:lnR>
                      <a:noFill/>
                    </a:lnR>
                    <a:lnT>
                      <a:noFill/>
                    </a:lnT>
                    <a:lnB>
                      <a:noFill/>
                    </a:lnB>
                    <a:noFill/>
                  </a:tcPr>
                </a:tc>
                <a:tc>
                  <a:txBody>
                    <a:bodyPr/>
                    <a:lstStyle/>
                    <a:p>
                      <a:pPr algn="r"/>
                      <a:r>
                        <a:rPr lang="en-US" sz="1300" b="1"/>
                        <a:t>96.68%</a:t>
                      </a:r>
                      <a:endParaRPr lang="en-US" sz="1300"/>
                    </a:p>
                  </a:txBody>
                  <a:tcPr marL="84702" marR="84702" marT="42351" marB="42351" anchor="ctr">
                    <a:lnL>
                      <a:noFill/>
                    </a:lnL>
                    <a:lnR>
                      <a:noFill/>
                    </a:lnR>
                    <a:lnT>
                      <a:noFill/>
                    </a:lnT>
                    <a:lnB>
                      <a:noFill/>
                    </a:lnB>
                    <a:noFill/>
                  </a:tcPr>
                </a:tc>
                <a:tc>
                  <a:txBody>
                    <a:bodyPr/>
                    <a:lstStyle/>
                    <a:p>
                      <a:pPr algn="r"/>
                      <a:r>
                        <a:rPr lang="en-US" sz="1300"/>
                        <a:t>19.23%</a:t>
                      </a:r>
                    </a:p>
                  </a:txBody>
                  <a:tcPr marL="84702" marR="84702" marT="42351" marB="42351" anchor="ctr">
                    <a:lnL>
                      <a:noFill/>
                    </a:lnL>
                    <a:lnR>
                      <a:noFill/>
                    </a:lnR>
                    <a:lnT>
                      <a:noFill/>
                    </a:lnT>
                    <a:lnB>
                      <a:noFill/>
                    </a:lnB>
                    <a:noFill/>
                  </a:tcPr>
                </a:tc>
                <a:tc>
                  <a:txBody>
                    <a:bodyPr/>
                    <a:lstStyle/>
                    <a:p>
                      <a:pPr algn="r"/>
                      <a:r>
                        <a:rPr lang="en-US" sz="1300"/>
                        <a:t>68.96%</a:t>
                      </a:r>
                    </a:p>
                  </a:txBody>
                  <a:tcPr marL="84702" marR="84702" marT="42351" marB="42351" anchor="ctr">
                    <a:lnL>
                      <a:noFill/>
                    </a:lnL>
                    <a:lnR>
                      <a:noFill/>
                    </a:lnR>
                    <a:lnT>
                      <a:noFill/>
                    </a:lnT>
                    <a:lnB>
                      <a:noFill/>
                    </a:lnB>
                    <a:noFill/>
                  </a:tcPr>
                </a:tc>
                <a:extLst>
                  <a:ext uri="{0D108BD9-81ED-4DB2-BD59-A6C34878D82A}">
                    <a16:rowId xmlns:a16="http://schemas.microsoft.com/office/drawing/2014/main" val="1098418589"/>
                  </a:ext>
                </a:extLst>
              </a:tr>
              <a:tr h="282339">
                <a:tc>
                  <a:txBody>
                    <a:bodyPr/>
                    <a:lstStyle/>
                    <a:p>
                      <a:r>
                        <a:rPr lang="en-US" sz="1300" dirty="0" err="1"/>
                        <a:t>LightGBM</a:t>
                      </a:r>
                      <a:endParaRPr lang="en-US" sz="1300" dirty="0"/>
                    </a:p>
                  </a:txBody>
                  <a:tcPr marL="84702" marR="84702" marT="42351" marB="42351" anchor="ctr">
                    <a:lnL>
                      <a:noFill/>
                    </a:lnL>
                    <a:lnR>
                      <a:noFill/>
                    </a:lnR>
                    <a:lnT>
                      <a:noFill/>
                    </a:lnT>
                    <a:lnB>
                      <a:noFill/>
                    </a:lnB>
                    <a:noFill/>
                  </a:tcPr>
                </a:tc>
                <a:tc>
                  <a:txBody>
                    <a:bodyPr/>
                    <a:lstStyle/>
                    <a:p>
                      <a:pPr algn="r"/>
                      <a:r>
                        <a:rPr lang="en-US" sz="1300"/>
                        <a:t>75.21%</a:t>
                      </a:r>
                    </a:p>
                  </a:txBody>
                  <a:tcPr marL="84702" marR="84702" marT="42351" marB="42351" anchor="ctr">
                    <a:lnL>
                      <a:noFill/>
                    </a:lnL>
                    <a:lnR>
                      <a:noFill/>
                    </a:lnR>
                    <a:lnT>
                      <a:noFill/>
                    </a:lnT>
                    <a:lnB>
                      <a:noFill/>
                    </a:lnB>
                    <a:noFill/>
                  </a:tcPr>
                </a:tc>
                <a:tc>
                  <a:txBody>
                    <a:bodyPr/>
                    <a:lstStyle/>
                    <a:p>
                      <a:pPr algn="r"/>
                      <a:r>
                        <a:rPr lang="en-US" sz="1300"/>
                        <a:t>53.41%</a:t>
                      </a:r>
                    </a:p>
                  </a:txBody>
                  <a:tcPr marL="84702" marR="84702" marT="42351" marB="42351" anchor="ctr">
                    <a:lnL>
                      <a:noFill/>
                    </a:lnL>
                    <a:lnR>
                      <a:noFill/>
                    </a:lnR>
                    <a:lnT>
                      <a:noFill/>
                    </a:lnT>
                    <a:lnB>
                      <a:noFill/>
                    </a:lnB>
                    <a:noFill/>
                  </a:tcPr>
                </a:tc>
                <a:tc>
                  <a:txBody>
                    <a:bodyPr/>
                    <a:lstStyle/>
                    <a:p>
                      <a:pPr algn="r"/>
                      <a:r>
                        <a:rPr lang="en-US" sz="1300"/>
                        <a:t>12.21%</a:t>
                      </a:r>
                    </a:p>
                  </a:txBody>
                  <a:tcPr marL="84702" marR="84702" marT="42351" marB="42351" anchor="ctr">
                    <a:lnL>
                      <a:noFill/>
                    </a:lnL>
                    <a:lnR>
                      <a:noFill/>
                    </a:lnR>
                    <a:lnT>
                      <a:noFill/>
                    </a:lnT>
                    <a:lnB>
                      <a:noFill/>
                    </a:lnB>
                    <a:noFill/>
                  </a:tcPr>
                </a:tc>
                <a:tc>
                  <a:txBody>
                    <a:bodyPr/>
                    <a:lstStyle/>
                    <a:p>
                      <a:pPr algn="r"/>
                      <a:r>
                        <a:rPr lang="en-US" sz="1300"/>
                        <a:t>96.42%</a:t>
                      </a:r>
                    </a:p>
                  </a:txBody>
                  <a:tcPr marL="84702" marR="84702" marT="42351" marB="42351" anchor="ctr">
                    <a:lnL>
                      <a:noFill/>
                    </a:lnL>
                    <a:lnR>
                      <a:noFill/>
                    </a:lnR>
                    <a:lnT>
                      <a:noFill/>
                    </a:lnT>
                    <a:lnB>
                      <a:noFill/>
                    </a:lnB>
                    <a:noFill/>
                  </a:tcPr>
                </a:tc>
                <a:tc>
                  <a:txBody>
                    <a:bodyPr/>
                    <a:lstStyle/>
                    <a:p>
                      <a:pPr algn="r"/>
                      <a:r>
                        <a:rPr lang="en-US" sz="1300"/>
                        <a:t>19.87%</a:t>
                      </a:r>
                    </a:p>
                  </a:txBody>
                  <a:tcPr marL="84702" marR="84702" marT="42351" marB="42351" anchor="ctr">
                    <a:lnL>
                      <a:noFill/>
                    </a:lnL>
                    <a:lnR>
                      <a:noFill/>
                    </a:lnR>
                    <a:lnT>
                      <a:noFill/>
                    </a:lnT>
                    <a:lnB>
                      <a:noFill/>
                    </a:lnB>
                    <a:noFill/>
                  </a:tcPr>
                </a:tc>
                <a:tc>
                  <a:txBody>
                    <a:bodyPr/>
                    <a:lstStyle/>
                    <a:p>
                      <a:pPr algn="r"/>
                      <a:r>
                        <a:rPr lang="en-US" sz="1300"/>
                        <a:t>68.03%</a:t>
                      </a:r>
                    </a:p>
                  </a:txBody>
                  <a:tcPr marL="84702" marR="84702" marT="42351" marB="42351" anchor="ctr">
                    <a:lnL>
                      <a:noFill/>
                    </a:lnL>
                    <a:lnR>
                      <a:noFill/>
                    </a:lnR>
                    <a:lnT>
                      <a:noFill/>
                    </a:lnT>
                    <a:lnB>
                      <a:noFill/>
                    </a:lnB>
                    <a:noFill/>
                  </a:tcPr>
                </a:tc>
                <a:extLst>
                  <a:ext uri="{0D108BD9-81ED-4DB2-BD59-A6C34878D82A}">
                    <a16:rowId xmlns:a16="http://schemas.microsoft.com/office/drawing/2014/main" val="1716326889"/>
                  </a:ext>
                </a:extLst>
              </a:tr>
              <a:tr h="282339">
                <a:tc>
                  <a:txBody>
                    <a:bodyPr/>
                    <a:lstStyle/>
                    <a:p>
                      <a:r>
                        <a:rPr lang="en-US" sz="1300" dirty="0"/>
                        <a:t>SVM (RBF)</a:t>
                      </a:r>
                    </a:p>
                  </a:txBody>
                  <a:tcPr marL="84702" marR="84702" marT="42351" marB="42351" anchor="ctr">
                    <a:lnL>
                      <a:noFill/>
                    </a:lnL>
                    <a:lnR>
                      <a:noFill/>
                    </a:lnR>
                    <a:lnT>
                      <a:noFill/>
                    </a:lnT>
                    <a:lnB>
                      <a:noFill/>
                    </a:lnB>
                    <a:noFill/>
                  </a:tcPr>
                </a:tc>
                <a:tc>
                  <a:txBody>
                    <a:bodyPr/>
                    <a:lstStyle/>
                    <a:p>
                      <a:pPr algn="r"/>
                      <a:r>
                        <a:rPr lang="en-US" sz="1300"/>
                        <a:t>72.40%</a:t>
                      </a:r>
                    </a:p>
                  </a:txBody>
                  <a:tcPr marL="84702" marR="84702" marT="42351" marB="42351" anchor="ctr">
                    <a:lnL>
                      <a:noFill/>
                    </a:lnL>
                    <a:lnR>
                      <a:noFill/>
                    </a:lnR>
                    <a:lnT>
                      <a:noFill/>
                    </a:lnT>
                    <a:lnB>
                      <a:noFill/>
                    </a:lnB>
                    <a:noFill/>
                  </a:tcPr>
                </a:tc>
                <a:tc>
                  <a:txBody>
                    <a:bodyPr/>
                    <a:lstStyle/>
                    <a:p>
                      <a:pPr algn="r"/>
                      <a:r>
                        <a:rPr lang="en-US" sz="1300"/>
                        <a:t>42.32%</a:t>
                      </a:r>
                    </a:p>
                  </a:txBody>
                  <a:tcPr marL="84702" marR="84702" marT="42351" marB="42351" anchor="ctr">
                    <a:lnL>
                      <a:noFill/>
                    </a:lnL>
                    <a:lnR>
                      <a:noFill/>
                    </a:lnR>
                    <a:lnT>
                      <a:noFill/>
                    </a:lnT>
                    <a:lnB>
                      <a:noFill/>
                    </a:lnB>
                    <a:noFill/>
                  </a:tcPr>
                </a:tc>
                <a:tc>
                  <a:txBody>
                    <a:bodyPr/>
                    <a:lstStyle/>
                    <a:p>
                      <a:pPr algn="r"/>
                      <a:r>
                        <a:rPr lang="en-US" sz="1300" b="1"/>
                        <a:t>26.49%</a:t>
                      </a:r>
                      <a:endParaRPr lang="en-US" sz="1300"/>
                    </a:p>
                  </a:txBody>
                  <a:tcPr marL="84702" marR="84702" marT="42351" marB="42351" anchor="ctr">
                    <a:lnL>
                      <a:noFill/>
                    </a:lnL>
                    <a:lnR>
                      <a:noFill/>
                    </a:lnR>
                    <a:lnT>
                      <a:noFill/>
                    </a:lnT>
                    <a:lnB>
                      <a:noFill/>
                    </a:lnB>
                    <a:noFill/>
                  </a:tcPr>
                </a:tc>
                <a:tc>
                  <a:txBody>
                    <a:bodyPr/>
                    <a:lstStyle/>
                    <a:p>
                      <a:pPr algn="r"/>
                      <a:r>
                        <a:rPr lang="en-US" sz="1300"/>
                        <a:t>87.85%</a:t>
                      </a:r>
                    </a:p>
                  </a:txBody>
                  <a:tcPr marL="84702" marR="84702" marT="42351" marB="42351" anchor="ctr">
                    <a:lnL>
                      <a:noFill/>
                    </a:lnL>
                    <a:lnR>
                      <a:noFill/>
                    </a:lnR>
                    <a:lnT>
                      <a:noFill/>
                    </a:lnT>
                    <a:lnB>
                      <a:noFill/>
                    </a:lnB>
                    <a:noFill/>
                  </a:tcPr>
                </a:tc>
                <a:tc>
                  <a:txBody>
                    <a:bodyPr/>
                    <a:lstStyle/>
                    <a:p>
                      <a:pPr algn="r"/>
                      <a:r>
                        <a:rPr lang="en-US" sz="1300" b="1"/>
                        <a:t>32.59%</a:t>
                      </a:r>
                      <a:endParaRPr lang="en-US" sz="1300"/>
                    </a:p>
                  </a:txBody>
                  <a:tcPr marL="84702" marR="84702" marT="42351" marB="42351" anchor="ctr">
                    <a:lnL>
                      <a:noFill/>
                    </a:lnL>
                    <a:lnR>
                      <a:noFill/>
                    </a:lnR>
                    <a:lnT>
                      <a:noFill/>
                    </a:lnT>
                    <a:lnB>
                      <a:noFill/>
                    </a:lnB>
                    <a:noFill/>
                  </a:tcPr>
                </a:tc>
                <a:tc>
                  <a:txBody>
                    <a:bodyPr/>
                    <a:lstStyle/>
                    <a:p>
                      <a:pPr algn="r"/>
                      <a:r>
                        <a:rPr lang="en-US" sz="1300"/>
                        <a:t>64.48%</a:t>
                      </a:r>
                    </a:p>
                  </a:txBody>
                  <a:tcPr marL="84702" marR="84702" marT="42351" marB="42351" anchor="ctr">
                    <a:lnL>
                      <a:noFill/>
                    </a:lnL>
                    <a:lnR>
                      <a:noFill/>
                    </a:lnR>
                    <a:lnT>
                      <a:noFill/>
                    </a:lnT>
                    <a:lnB>
                      <a:noFill/>
                    </a:lnB>
                    <a:noFill/>
                  </a:tcPr>
                </a:tc>
                <a:extLst>
                  <a:ext uri="{0D108BD9-81ED-4DB2-BD59-A6C34878D82A}">
                    <a16:rowId xmlns:a16="http://schemas.microsoft.com/office/drawing/2014/main" val="851769463"/>
                  </a:ext>
                </a:extLst>
              </a:tr>
              <a:tr h="479976">
                <a:tc>
                  <a:txBody>
                    <a:bodyPr/>
                    <a:lstStyle/>
                    <a:p>
                      <a:r>
                        <a:rPr lang="en-US" sz="1300" dirty="0"/>
                        <a:t>Random Forest</a:t>
                      </a:r>
                    </a:p>
                  </a:txBody>
                  <a:tcPr marL="84702" marR="84702" marT="42351" marB="42351" anchor="ctr">
                    <a:lnL>
                      <a:noFill/>
                    </a:lnL>
                    <a:lnR>
                      <a:noFill/>
                    </a:lnR>
                    <a:lnT>
                      <a:noFill/>
                    </a:lnT>
                    <a:lnB>
                      <a:noFill/>
                    </a:lnB>
                    <a:noFill/>
                  </a:tcPr>
                </a:tc>
                <a:tc>
                  <a:txBody>
                    <a:bodyPr/>
                    <a:lstStyle/>
                    <a:p>
                      <a:pPr algn="r"/>
                      <a:r>
                        <a:rPr lang="en-US" sz="1300" dirty="0"/>
                        <a:t>74.23%</a:t>
                      </a:r>
                    </a:p>
                  </a:txBody>
                  <a:tcPr marL="84702" marR="84702" marT="42351" marB="42351" anchor="ctr">
                    <a:lnL>
                      <a:noFill/>
                    </a:lnL>
                    <a:lnR>
                      <a:noFill/>
                    </a:lnR>
                    <a:lnT>
                      <a:noFill/>
                    </a:lnT>
                    <a:lnB>
                      <a:noFill/>
                    </a:lnB>
                    <a:noFill/>
                  </a:tcPr>
                </a:tc>
                <a:tc>
                  <a:txBody>
                    <a:bodyPr/>
                    <a:lstStyle/>
                    <a:p>
                      <a:pPr algn="r"/>
                      <a:r>
                        <a:rPr lang="en-US" sz="1300"/>
                        <a:t>45.54%</a:t>
                      </a:r>
                    </a:p>
                  </a:txBody>
                  <a:tcPr marL="84702" marR="84702" marT="42351" marB="42351" anchor="ctr">
                    <a:lnL>
                      <a:noFill/>
                    </a:lnL>
                    <a:lnR>
                      <a:noFill/>
                    </a:lnR>
                    <a:lnT>
                      <a:noFill/>
                    </a:lnT>
                    <a:lnB>
                      <a:noFill/>
                    </a:lnB>
                    <a:noFill/>
                  </a:tcPr>
                </a:tc>
                <a:tc>
                  <a:txBody>
                    <a:bodyPr/>
                    <a:lstStyle/>
                    <a:p>
                      <a:pPr algn="r"/>
                      <a:r>
                        <a:rPr lang="en-US" sz="1300" dirty="0"/>
                        <a:t>11.95%</a:t>
                      </a:r>
                    </a:p>
                  </a:txBody>
                  <a:tcPr marL="84702" marR="84702" marT="42351" marB="42351" anchor="ctr">
                    <a:lnL>
                      <a:noFill/>
                    </a:lnL>
                    <a:lnR>
                      <a:noFill/>
                    </a:lnR>
                    <a:lnT>
                      <a:noFill/>
                    </a:lnT>
                    <a:lnB>
                      <a:noFill/>
                    </a:lnB>
                    <a:noFill/>
                  </a:tcPr>
                </a:tc>
                <a:tc>
                  <a:txBody>
                    <a:bodyPr/>
                    <a:lstStyle/>
                    <a:p>
                      <a:pPr algn="r"/>
                      <a:r>
                        <a:rPr lang="en-US" sz="1300"/>
                        <a:t>95.19%</a:t>
                      </a:r>
                    </a:p>
                  </a:txBody>
                  <a:tcPr marL="84702" marR="84702" marT="42351" marB="42351" anchor="ctr">
                    <a:lnL>
                      <a:noFill/>
                    </a:lnL>
                    <a:lnR>
                      <a:noFill/>
                    </a:lnR>
                    <a:lnT>
                      <a:noFill/>
                    </a:lnT>
                    <a:lnB>
                      <a:noFill/>
                    </a:lnB>
                    <a:noFill/>
                  </a:tcPr>
                </a:tc>
                <a:tc>
                  <a:txBody>
                    <a:bodyPr/>
                    <a:lstStyle/>
                    <a:p>
                      <a:pPr algn="r"/>
                      <a:r>
                        <a:rPr lang="en-US" sz="1300"/>
                        <a:t>18.93%</a:t>
                      </a:r>
                    </a:p>
                  </a:txBody>
                  <a:tcPr marL="84702" marR="84702" marT="42351" marB="42351" anchor="ctr">
                    <a:lnL>
                      <a:noFill/>
                    </a:lnL>
                    <a:lnR>
                      <a:noFill/>
                    </a:lnR>
                    <a:lnT>
                      <a:noFill/>
                    </a:lnT>
                    <a:lnB>
                      <a:noFill/>
                    </a:lnB>
                    <a:noFill/>
                  </a:tcPr>
                </a:tc>
                <a:tc>
                  <a:txBody>
                    <a:bodyPr/>
                    <a:lstStyle/>
                    <a:p>
                      <a:pPr algn="r"/>
                      <a:r>
                        <a:rPr lang="en-US" sz="1300"/>
                        <a:t>68.84%</a:t>
                      </a:r>
                    </a:p>
                  </a:txBody>
                  <a:tcPr marL="84702" marR="84702" marT="42351" marB="42351" anchor="ctr">
                    <a:lnL>
                      <a:noFill/>
                    </a:lnL>
                    <a:lnR>
                      <a:noFill/>
                    </a:lnR>
                    <a:lnT>
                      <a:noFill/>
                    </a:lnT>
                    <a:lnB>
                      <a:noFill/>
                    </a:lnB>
                    <a:noFill/>
                  </a:tcPr>
                </a:tc>
                <a:extLst>
                  <a:ext uri="{0D108BD9-81ED-4DB2-BD59-A6C34878D82A}">
                    <a16:rowId xmlns:a16="http://schemas.microsoft.com/office/drawing/2014/main" val="3195830580"/>
                  </a:ext>
                </a:extLst>
              </a:tr>
              <a:tr h="282339">
                <a:tc>
                  <a:txBody>
                    <a:bodyPr/>
                    <a:lstStyle/>
                    <a:p>
                      <a:r>
                        <a:rPr lang="en-US" sz="1300" dirty="0"/>
                        <a:t>KNN</a:t>
                      </a:r>
                    </a:p>
                  </a:txBody>
                  <a:tcPr marL="84702" marR="84702" marT="42351" marB="42351" anchor="ctr">
                    <a:lnL>
                      <a:noFill/>
                    </a:lnL>
                    <a:lnR>
                      <a:noFill/>
                    </a:lnR>
                    <a:lnT>
                      <a:noFill/>
                    </a:lnT>
                    <a:lnB>
                      <a:noFill/>
                    </a:lnB>
                    <a:noFill/>
                  </a:tcPr>
                </a:tc>
                <a:tc>
                  <a:txBody>
                    <a:bodyPr/>
                    <a:lstStyle/>
                    <a:p>
                      <a:pPr algn="r"/>
                      <a:r>
                        <a:rPr lang="en-US" sz="1300"/>
                        <a:t>71.81%</a:t>
                      </a:r>
                    </a:p>
                  </a:txBody>
                  <a:tcPr marL="84702" marR="84702" marT="42351" marB="42351" anchor="ctr">
                    <a:lnL>
                      <a:noFill/>
                    </a:lnL>
                    <a:lnR>
                      <a:noFill/>
                    </a:lnR>
                    <a:lnT>
                      <a:noFill/>
                    </a:lnT>
                    <a:lnB>
                      <a:noFill/>
                    </a:lnB>
                    <a:noFill/>
                  </a:tcPr>
                </a:tc>
                <a:tc>
                  <a:txBody>
                    <a:bodyPr/>
                    <a:lstStyle/>
                    <a:p>
                      <a:pPr algn="r"/>
                      <a:r>
                        <a:rPr lang="en-US" sz="1300"/>
                        <a:t>37.89%</a:t>
                      </a:r>
                    </a:p>
                  </a:txBody>
                  <a:tcPr marL="84702" marR="84702" marT="42351" marB="42351" anchor="ctr">
                    <a:lnL>
                      <a:noFill/>
                    </a:lnL>
                    <a:lnR>
                      <a:noFill/>
                    </a:lnR>
                    <a:lnT>
                      <a:noFill/>
                    </a:lnT>
                    <a:lnB>
                      <a:noFill/>
                    </a:lnB>
                    <a:noFill/>
                  </a:tcPr>
                </a:tc>
                <a:tc>
                  <a:txBody>
                    <a:bodyPr/>
                    <a:lstStyle/>
                    <a:p>
                      <a:pPr algn="r"/>
                      <a:r>
                        <a:rPr lang="en-US" sz="1300"/>
                        <a:t>18.70%</a:t>
                      </a:r>
                    </a:p>
                  </a:txBody>
                  <a:tcPr marL="84702" marR="84702" marT="42351" marB="42351" anchor="ctr">
                    <a:lnL>
                      <a:noFill/>
                    </a:lnL>
                    <a:lnR>
                      <a:noFill/>
                    </a:lnR>
                    <a:lnT>
                      <a:noFill/>
                    </a:lnT>
                    <a:lnB>
                      <a:noFill/>
                    </a:lnB>
                    <a:noFill/>
                  </a:tcPr>
                </a:tc>
                <a:tc>
                  <a:txBody>
                    <a:bodyPr/>
                    <a:lstStyle/>
                    <a:p>
                      <a:pPr algn="r"/>
                      <a:r>
                        <a:rPr lang="en-US" sz="1300"/>
                        <a:t>89.69%</a:t>
                      </a:r>
                    </a:p>
                  </a:txBody>
                  <a:tcPr marL="84702" marR="84702" marT="42351" marB="42351" anchor="ctr">
                    <a:lnL>
                      <a:noFill/>
                    </a:lnL>
                    <a:lnR>
                      <a:noFill/>
                    </a:lnR>
                    <a:lnT>
                      <a:noFill/>
                    </a:lnT>
                    <a:lnB>
                      <a:noFill/>
                    </a:lnB>
                    <a:noFill/>
                  </a:tcPr>
                </a:tc>
                <a:tc>
                  <a:txBody>
                    <a:bodyPr/>
                    <a:lstStyle/>
                    <a:p>
                      <a:pPr algn="r"/>
                      <a:r>
                        <a:rPr lang="en-US" sz="1300"/>
                        <a:t>25.04%</a:t>
                      </a:r>
                    </a:p>
                  </a:txBody>
                  <a:tcPr marL="84702" marR="84702" marT="42351" marB="42351" anchor="ctr">
                    <a:lnL>
                      <a:noFill/>
                    </a:lnL>
                    <a:lnR>
                      <a:noFill/>
                    </a:lnR>
                    <a:lnT>
                      <a:noFill/>
                    </a:lnT>
                    <a:lnB>
                      <a:noFill/>
                    </a:lnB>
                    <a:noFill/>
                  </a:tcPr>
                </a:tc>
                <a:tc>
                  <a:txBody>
                    <a:bodyPr/>
                    <a:lstStyle/>
                    <a:p>
                      <a:pPr algn="r"/>
                      <a:r>
                        <a:rPr lang="en-US" sz="1300"/>
                        <a:t>64.81%</a:t>
                      </a:r>
                    </a:p>
                  </a:txBody>
                  <a:tcPr marL="84702" marR="84702" marT="42351" marB="42351" anchor="ctr">
                    <a:lnL>
                      <a:noFill/>
                    </a:lnL>
                    <a:lnR>
                      <a:noFill/>
                    </a:lnR>
                    <a:lnT>
                      <a:noFill/>
                    </a:lnT>
                    <a:lnB>
                      <a:noFill/>
                    </a:lnB>
                    <a:noFill/>
                  </a:tcPr>
                </a:tc>
                <a:extLst>
                  <a:ext uri="{0D108BD9-81ED-4DB2-BD59-A6C34878D82A}">
                    <a16:rowId xmlns:a16="http://schemas.microsoft.com/office/drawing/2014/main" val="1197020370"/>
                  </a:ext>
                </a:extLst>
              </a:tr>
              <a:tr h="479976">
                <a:tc>
                  <a:txBody>
                    <a:bodyPr/>
                    <a:lstStyle/>
                    <a:p>
                      <a:r>
                        <a:rPr lang="en-US" sz="1300" dirty="0"/>
                        <a:t>Logistic Regression</a:t>
                      </a:r>
                    </a:p>
                  </a:txBody>
                  <a:tcPr marL="84702" marR="84702" marT="42351" marB="42351" anchor="ctr">
                    <a:lnL>
                      <a:noFill/>
                    </a:lnL>
                    <a:lnR>
                      <a:noFill/>
                    </a:lnR>
                    <a:lnT>
                      <a:noFill/>
                    </a:lnT>
                    <a:lnB>
                      <a:noFill/>
                    </a:lnB>
                    <a:noFill/>
                  </a:tcPr>
                </a:tc>
                <a:tc>
                  <a:txBody>
                    <a:bodyPr/>
                    <a:lstStyle/>
                    <a:p>
                      <a:pPr algn="r"/>
                      <a:r>
                        <a:rPr lang="en-US" sz="1300"/>
                        <a:t>75.28%</a:t>
                      </a:r>
                    </a:p>
                  </a:txBody>
                  <a:tcPr marL="84702" marR="84702" marT="42351" marB="42351" anchor="ctr">
                    <a:lnL>
                      <a:noFill/>
                    </a:lnL>
                    <a:lnR>
                      <a:noFill/>
                    </a:lnR>
                    <a:lnT>
                      <a:noFill/>
                    </a:lnT>
                    <a:lnB>
                      <a:noFill/>
                    </a:lnB>
                    <a:noFill/>
                  </a:tcPr>
                </a:tc>
                <a:tc>
                  <a:txBody>
                    <a:bodyPr/>
                    <a:lstStyle/>
                    <a:p>
                      <a:pPr algn="r"/>
                      <a:r>
                        <a:rPr lang="en-US" sz="1300"/>
                        <a:t>52.67%</a:t>
                      </a:r>
                    </a:p>
                  </a:txBody>
                  <a:tcPr marL="84702" marR="84702" marT="42351" marB="42351" anchor="ctr">
                    <a:lnL>
                      <a:noFill/>
                    </a:lnL>
                    <a:lnR>
                      <a:noFill/>
                    </a:lnR>
                    <a:lnT>
                      <a:noFill/>
                    </a:lnT>
                    <a:lnB>
                      <a:noFill/>
                    </a:lnB>
                    <a:noFill/>
                  </a:tcPr>
                </a:tc>
                <a:tc>
                  <a:txBody>
                    <a:bodyPr/>
                    <a:lstStyle/>
                    <a:p>
                      <a:pPr algn="r"/>
                      <a:r>
                        <a:rPr lang="en-US" sz="1300"/>
                        <a:t>17.92%</a:t>
                      </a:r>
                    </a:p>
                  </a:txBody>
                  <a:tcPr marL="84702" marR="84702" marT="42351" marB="42351" anchor="ctr">
                    <a:lnL>
                      <a:noFill/>
                    </a:lnL>
                    <a:lnR>
                      <a:noFill/>
                    </a:lnR>
                    <a:lnT>
                      <a:noFill/>
                    </a:lnT>
                    <a:lnB>
                      <a:noFill/>
                    </a:lnB>
                    <a:noFill/>
                  </a:tcPr>
                </a:tc>
                <a:tc>
                  <a:txBody>
                    <a:bodyPr/>
                    <a:lstStyle/>
                    <a:p>
                      <a:pPr algn="r"/>
                      <a:r>
                        <a:rPr lang="en-US" sz="1300"/>
                        <a:t>94.58%</a:t>
                      </a:r>
                    </a:p>
                  </a:txBody>
                  <a:tcPr marL="84702" marR="84702" marT="42351" marB="42351" anchor="ctr">
                    <a:lnL>
                      <a:noFill/>
                    </a:lnL>
                    <a:lnR>
                      <a:noFill/>
                    </a:lnR>
                    <a:lnT>
                      <a:noFill/>
                    </a:lnT>
                    <a:lnB>
                      <a:noFill/>
                    </a:lnB>
                    <a:noFill/>
                  </a:tcPr>
                </a:tc>
                <a:tc>
                  <a:txBody>
                    <a:bodyPr/>
                    <a:lstStyle/>
                    <a:p>
                      <a:pPr algn="r"/>
                      <a:r>
                        <a:rPr lang="en-US" sz="1300"/>
                        <a:t>26.74%</a:t>
                      </a:r>
                    </a:p>
                  </a:txBody>
                  <a:tcPr marL="84702" marR="84702" marT="42351" marB="42351" anchor="ctr">
                    <a:lnL>
                      <a:noFill/>
                    </a:lnL>
                    <a:lnR>
                      <a:noFill/>
                    </a:lnR>
                    <a:lnT>
                      <a:noFill/>
                    </a:lnT>
                    <a:lnB>
                      <a:noFill/>
                    </a:lnB>
                    <a:noFill/>
                  </a:tcPr>
                </a:tc>
                <a:tc>
                  <a:txBody>
                    <a:bodyPr/>
                    <a:lstStyle/>
                    <a:p>
                      <a:pPr algn="r"/>
                      <a:r>
                        <a:rPr lang="en-US" sz="1300" dirty="0"/>
                        <a:t>68.93%</a:t>
                      </a:r>
                    </a:p>
                  </a:txBody>
                  <a:tcPr marL="84702" marR="84702" marT="42351" marB="42351" anchor="ctr">
                    <a:lnL>
                      <a:noFill/>
                    </a:lnL>
                    <a:lnR>
                      <a:noFill/>
                    </a:lnR>
                    <a:lnT>
                      <a:noFill/>
                    </a:lnT>
                    <a:lnB>
                      <a:noFill/>
                    </a:lnB>
                    <a:noFill/>
                  </a:tcPr>
                </a:tc>
                <a:extLst>
                  <a:ext uri="{0D108BD9-81ED-4DB2-BD59-A6C34878D82A}">
                    <a16:rowId xmlns:a16="http://schemas.microsoft.com/office/drawing/2014/main" val="1650486186"/>
                  </a:ext>
                </a:extLst>
              </a:tr>
              <a:tr h="282339">
                <a:tc>
                  <a:txBody>
                    <a:bodyPr/>
                    <a:lstStyle/>
                    <a:p>
                      <a:r>
                        <a:rPr lang="en-US" sz="1300"/>
                        <a:t>MLP</a:t>
                      </a:r>
                    </a:p>
                  </a:txBody>
                  <a:tcPr marL="84702" marR="84702" marT="42351" marB="42351" anchor="ctr">
                    <a:lnL>
                      <a:noFill/>
                    </a:lnL>
                    <a:lnR>
                      <a:noFill/>
                    </a:lnR>
                    <a:lnT>
                      <a:noFill/>
                    </a:lnT>
                    <a:lnB>
                      <a:noFill/>
                    </a:lnB>
                    <a:noFill/>
                  </a:tcPr>
                </a:tc>
                <a:tc>
                  <a:txBody>
                    <a:bodyPr/>
                    <a:lstStyle/>
                    <a:p>
                      <a:pPr algn="r"/>
                      <a:r>
                        <a:rPr lang="en-US" sz="1300"/>
                        <a:t>63.51%</a:t>
                      </a:r>
                    </a:p>
                  </a:txBody>
                  <a:tcPr marL="84702" marR="84702" marT="42351" marB="42351" anchor="ctr">
                    <a:lnL>
                      <a:noFill/>
                    </a:lnL>
                    <a:lnR>
                      <a:noFill/>
                    </a:lnR>
                    <a:lnT>
                      <a:noFill/>
                    </a:lnT>
                    <a:lnB>
                      <a:noFill/>
                    </a:lnB>
                    <a:noFill/>
                  </a:tcPr>
                </a:tc>
                <a:tc>
                  <a:txBody>
                    <a:bodyPr/>
                    <a:lstStyle/>
                    <a:p>
                      <a:pPr algn="r"/>
                      <a:r>
                        <a:rPr lang="en-US" sz="1300"/>
                        <a:t>27.65%</a:t>
                      </a:r>
                    </a:p>
                  </a:txBody>
                  <a:tcPr marL="84702" marR="84702" marT="42351" marB="42351" anchor="ctr">
                    <a:lnL>
                      <a:noFill/>
                    </a:lnL>
                    <a:lnR>
                      <a:noFill/>
                    </a:lnR>
                    <a:lnT>
                      <a:noFill/>
                    </a:lnT>
                    <a:lnB>
                      <a:noFill/>
                    </a:lnB>
                    <a:noFill/>
                  </a:tcPr>
                </a:tc>
                <a:tc>
                  <a:txBody>
                    <a:bodyPr/>
                    <a:lstStyle/>
                    <a:p>
                      <a:pPr algn="r"/>
                      <a:r>
                        <a:rPr lang="en-US" sz="1300" b="1"/>
                        <a:t>27.79%</a:t>
                      </a:r>
                      <a:endParaRPr lang="en-US" sz="1300"/>
                    </a:p>
                  </a:txBody>
                  <a:tcPr marL="84702" marR="84702" marT="42351" marB="42351" anchor="ctr">
                    <a:lnL>
                      <a:noFill/>
                    </a:lnL>
                    <a:lnR>
                      <a:noFill/>
                    </a:lnR>
                    <a:lnT>
                      <a:noFill/>
                    </a:lnT>
                    <a:lnB>
                      <a:noFill/>
                    </a:lnB>
                    <a:noFill/>
                  </a:tcPr>
                </a:tc>
                <a:tc>
                  <a:txBody>
                    <a:bodyPr/>
                    <a:lstStyle/>
                    <a:p>
                      <a:pPr algn="r"/>
                      <a:r>
                        <a:rPr lang="en-US" sz="1300"/>
                        <a:t>75.52%</a:t>
                      </a:r>
                    </a:p>
                  </a:txBody>
                  <a:tcPr marL="84702" marR="84702" marT="42351" marB="42351" anchor="ctr">
                    <a:lnL>
                      <a:noFill/>
                    </a:lnL>
                    <a:lnR>
                      <a:noFill/>
                    </a:lnR>
                    <a:lnT>
                      <a:noFill/>
                    </a:lnT>
                    <a:lnB>
                      <a:noFill/>
                    </a:lnB>
                    <a:noFill/>
                  </a:tcPr>
                </a:tc>
                <a:tc>
                  <a:txBody>
                    <a:bodyPr/>
                    <a:lstStyle/>
                    <a:p>
                      <a:pPr algn="r"/>
                      <a:r>
                        <a:rPr lang="en-US" sz="1300"/>
                        <a:t>27.72%</a:t>
                      </a:r>
                    </a:p>
                  </a:txBody>
                  <a:tcPr marL="84702" marR="84702" marT="42351" marB="42351" anchor="ctr">
                    <a:lnL>
                      <a:noFill/>
                    </a:lnL>
                    <a:lnR>
                      <a:noFill/>
                    </a:lnR>
                    <a:lnT>
                      <a:noFill/>
                    </a:lnT>
                    <a:lnB>
                      <a:noFill/>
                    </a:lnB>
                    <a:noFill/>
                  </a:tcPr>
                </a:tc>
                <a:tc>
                  <a:txBody>
                    <a:bodyPr/>
                    <a:lstStyle/>
                    <a:p>
                      <a:pPr algn="r"/>
                      <a:r>
                        <a:rPr lang="en-US" sz="1300"/>
                        <a:t>59.39%</a:t>
                      </a:r>
                    </a:p>
                  </a:txBody>
                  <a:tcPr marL="84702" marR="84702" marT="42351" marB="42351" anchor="ctr">
                    <a:lnL>
                      <a:noFill/>
                    </a:lnL>
                    <a:lnR>
                      <a:noFill/>
                    </a:lnR>
                    <a:lnT>
                      <a:noFill/>
                    </a:lnT>
                    <a:lnB>
                      <a:noFill/>
                    </a:lnB>
                    <a:noFill/>
                  </a:tcPr>
                </a:tc>
                <a:extLst>
                  <a:ext uri="{0D108BD9-81ED-4DB2-BD59-A6C34878D82A}">
                    <a16:rowId xmlns:a16="http://schemas.microsoft.com/office/drawing/2014/main" val="1335334853"/>
                  </a:ext>
                </a:extLst>
              </a:tr>
              <a:tr h="479976">
                <a:tc>
                  <a:txBody>
                    <a:bodyPr/>
                    <a:lstStyle/>
                    <a:p>
                      <a:r>
                        <a:rPr lang="en-US" sz="1300" b="1"/>
                        <a:t>Final Ensemble</a:t>
                      </a:r>
                      <a:endParaRPr lang="en-US" sz="1300"/>
                    </a:p>
                  </a:txBody>
                  <a:tcPr marL="84702" marR="84702" marT="42351" marB="42351" anchor="ctr">
                    <a:lnL>
                      <a:noFill/>
                    </a:lnL>
                    <a:lnR>
                      <a:noFill/>
                    </a:lnR>
                    <a:lnT>
                      <a:noFill/>
                    </a:lnT>
                    <a:lnB>
                      <a:noFill/>
                    </a:lnB>
                    <a:noFill/>
                  </a:tcPr>
                </a:tc>
                <a:tc>
                  <a:txBody>
                    <a:bodyPr/>
                    <a:lstStyle/>
                    <a:p>
                      <a:pPr algn="r"/>
                      <a:r>
                        <a:rPr lang="en-US" sz="1300" b="1"/>
                        <a:t>74.75%</a:t>
                      </a:r>
                      <a:endParaRPr lang="en-US" sz="1300"/>
                    </a:p>
                  </a:txBody>
                  <a:tcPr marL="84702" marR="84702" marT="42351" marB="42351" anchor="ctr">
                    <a:lnL>
                      <a:noFill/>
                    </a:lnL>
                    <a:lnR>
                      <a:noFill/>
                    </a:lnR>
                    <a:lnT>
                      <a:noFill/>
                    </a:lnT>
                    <a:lnB>
                      <a:noFill/>
                    </a:lnB>
                    <a:noFill/>
                  </a:tcPr>
                </a:tc>
                <a:tc>
                  <a:txBody>
                    <a:bodyPr/>
                    <a:lstStyle/>
                    <a:p>
                      <a:pPr algn="r"/>
                      <a:r>
                        <a:rPr lang="en-US" sz="1300"/>
                        <a:t>49.58%</a:t>
                      </a:r>
                    </a:p>
                  </a:txBody>
                  <a:tcPr marL="84702" marR="84702" marT="42351" marB="42351" anchor="ctr">
                    <a:lnL>
                      <a:noFill/>
                    </a:lnL>
                    <a:lnR>
                      <a:noFill/>
                    </a:lnR>
                    <a:lnT>
                      <a:noFill/>
                    </a:lnT>
                    <a:lnB>
                      <a:noFill/>
                    </a:lnB>
                    <a:noFill/>
                  </a:tcPr>
                </a:tc>
                <a:tc>
                  <a:txBody>
                    <a:bodyPr/>
                    <a:lstStyle/>
                    <a:p>
                      <a:pPr algn="r"/>
                      <a:r>
                        <a:rPr lang="en-US" sz="1300"/>
                        <a:t>15.32%</a:t>
                      </a:r>
                    </a:p>
                  </a:txBody>
                  <a:tcPr marL="84702" marR="84702" marT="42351" marB="42351" anchor="ctr">
                    <a:lnL>
                      <a:noFill/>
                    </a:lnL>
                    <a:lnR>
                      <a:noFill/>
                    </a:lnR>
                    <a:lnT>
                      <a:noFill/>
                    </a:lnT>
                    <a:lnB>
                      <a:noFill/>
                    </a:lnB>
                    <a:noFill/>
                  </a:tcPr>
                </a:tc>
                <a:tc>
                  <a:txBody>
                    <a:bodyPr/>
                    <a:lstStyle/>
                    <a:p>
                      <a:pPr algn="r"/>
                      <a:r>
                        <a:rPr lang="en-US" sz="1300"/>
                        <a:t>94.76%</a:t>
                      </a:r>
                    </a:p>
                  </a:txBody>
                  <a:tcPr marL="84702" marR="84702" marT="42351" marB="42351" anchor="ctr">
                    <a:lnL>
                      <a:noFill/>
                    </a:lnL>
                    <a:lnR>
                      <a:noFill/>
                    </a:lnR>
                    <a:lnT>
                      <a:noFill/>
                    </a:lnT>
                    <a:lnB>
                      <a:noFill/>
                    </a:lnB>
                    <a:noFill/>
                  </a:tcPr>
                </a:tc>
                <a:tc>
                  <a:txBody>
                    <a:bodyPr/>
                    <a:lstStyle/>
                    <a:p>
                      <a:pPr algn="r"/>
                      <a:r>
                        <a:rPr lang="en-US" sz="1300"/>
                        <a:t>23.41%</a:t>
                      </a:r>
                    </a:p>
                  </a:txBody>
                  <a:tcPr marL="84702" marR="84702" marT="42351" marB="42351" anchor="ctr">
                    <a:lnL>
                      <a:noFill/>
                    </a:lnL>
                    <a:lnR>
                      <a:noFill/>
                    </a:lnR>
                    <a:lnT>
                      <a:noFill/>
                    </a:lnT>
                    <a:lnB>
                      <a:noFill/>
                    </a:lnB>
                    <a:noFill/>
                  </a:tcPr>
                </a:tc>
                <a:tc>
                  <a:txBody>
                    <a:bodyPr/>
                    <a:lstStyle/>
                    <a:p>
                      <a:pPr algn="r"/>
                      <a:r>
                        <a:rPr lang="en-US" sz="1300" dirty="0"/>
                        <a:t>67.12%</a:t>
                      </a:r>
                    </a:p>
                  </a:txBody>
                  <a:tcPr marL="84702" marR="84702" marT="42351" marB="42351" anchor="ctr">
                    <a:lnL>
                      <a:noFill/>
                    </a:lnL>
                    <a:lnR>
                      <a:noFill/>
                    </a:lnR>
                    <a:lnT>
                      <a:noFill/>
                    </a:lnT>
                    <a:lnB>
                      <a:noFill/>
                    </a:lnB>
                    <a:noFill/>
                  </a:tcPr>
                </a:tc>
                <a:extLst>
                  <a:ext uri="{0D108BD9-81ED-4DB2-BD59-A6C34878D82A}">
                    <a16:rowId xmlns:a16="http://schemas.microsoft.com/office/drawing/2014/main" val="691181513"/>
                  </a:ext>
                </a:extLst>
              </a:tr>
            </a:tbl>
          </a:graphicData>
        </a:graphic>
      </p:graphicFrame>
    </p:spTree>
    <p:extLst>
      <p:ext uri="{BB962C8B-B14F-4D97-AF65-F5344CB8AC3E}">
        <p14:creationId xmlns:p14="http://schemas.microsoft.com/office/powerpoint/2010/main" val="3620621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701F8-91E4-7D8B-121D-0FB294E71E66}"/>
              </a:ext>
            </a:extLst>
          </p:cNvPr>
          <p:cNvSpPr>
            <a:spLocks noGrp="1"/>
          </p:cNvSpPr>
          <p:nvPr>
            <p:ph type="title"/>
          </p:nvPr>
        </p:nvSpPr>
        <p:spPr/>
        <p:txBody>
          <a:bodyPr>
            <a:normAutofit fontScale="90000"/>
          </a:bodyPr>
          <a:lstStyle/>
          <a:p>
            <a:r>
              <a:rPr lang="en-US" dirty="0" err="1"/>
              <a:t>Frontair</a:t>
            </a:r>
            <a:r>
              <a:rPr lang="en-US" dirty="0"/>
              <a:t> Model accuracy</a:t>
            </a:r>
          </a:p>
        </p:txBody>
      </p:sp>
      <p:sp>
        <p:nvSpPr>
          <p:cNvPr id="3" name="Text Placeholder 2">
            <a:extLst>
              <a:ext uri="{FF2B5EF4-FFF2-40B4-BE49-F238E27FC236}">
                <a16:creationId xmlns:a16="http://schemas.microsoft.com/office/drawing/2014/main" id="{6ADB02DF-A9F3-2F3E-332B-9765FEC07B72}"/>
              </a:ext>
            </a:extLst>
          </p:cNvPr>
          <p:cNvSpPr>
            <a:spLocks noGrp="1"/>
          </p:cNvSpPr>
          <p:nvPr>
            <p:ph type="body" idx="1"/>
          </p:nvPr>
        </p:nvSpPr>
        <p:spPr/>
        <p:txBody>
          <a:bodyPr/>
          <a:lstStyle/>
          <a:p>
            <a:r>
              <a:rPr lang="en-US" dirty="0"/>
              <a:t>Claud Accuracy – 43%, TP 380, TN 283, FP 861, FN 5</a:t>
            </a:r>
          </a:p>
          <a:p>
            <a:r>
              <a:rPr lang="en-US" dirty="0"/>
              <a:t>Grok Accuracy – 64% - Correct – 973 (TP + TN), incorrect – 556</a:t>
            </a:r>
          </a:p>
          <a:p>
            <a:r>
              <a:rPr lang="en-US" dirty="0"/>
              <a:t>GPT Accuracy – 49.57%, TP 376, TN 382, FP 762, FN 9</a:t>
            </a:r>
          </a:p>
          <a:p>
            <a:endParaRPr lang="en-US" dirty="0"/>
          </a:p>
          <a:p>
            <a:endParaRPr lang="en-US" dirty="0"/>
          </a:p>
          <a:p>
            <a:endParaRPr lang="en-US" dirty="0"/>
          </a:p>
        </p:txBody>
      </p:sp>
    </p:spTree>
    <p:extLst>
      <p:ext uri="{BB962C8B-B14F-4D97-AF65-F5344CB8AC3E}">
        <p14:creationId xmlns:p14="http://schemas.microsoft.com/office/powerpoint/2010/main" val="2234566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F32A5-A63C-006E-995F-3BE7E1C89399}"/>
              </a:ext>
            </a:extLst>
          </p:cNvPr>
          <p:cNvSpPr>
            <a:spLocks noGrp="1"/>
          </p:cNvSpPr>
          <p:nvPr>
            <p:ph type="title"/>
          </p:nvPr>
        </p:nvSpPr>
        <p:spPr/>
        <p:txBody>
          <a:bodyPr>
            <a:normAutofit fontScale="90000"/>
          </a:bodyPr>
          <a:lstStyle/>
          <a:p>
            <a:r>
              <a:rPr lang="en-US" dirty="0"/>
              <a:t>Doctor’s prediction</a:t>
            </a:r>
          </a:p>
        </p:txBody>
      </p:sp>
      <p:sp>
        <p:nvSpPr>
          <p:cNvPr id="3" name="Text Placeholder 2">
            <a:extLst>
              <a:ext uri="{FF2B5EF4-FFF2-40B4-BE49-F238E27FC236}">
                <a16:creationId xmlns:a16="http://schemas.microsoft.com/office/drawing/2014/main" id="{3BB7593B-0CA9-AAD1-9333-9993418734C5}"/>
              </a:ext>
            </a:extLst>
          </p:cNvPr>
          <p:cNvSpPr>
            <a:spLocks noGrp="1"/>
          </p:cNvSpPr>
          <p:nvPr>
            <p:ph type="body" idx="1"/>
          </p:nvPr>
        </p:nvSpPr>
        <p:spPr/>
        <p:txBody>
          <a:bodyPr/>
          <a:lstStyle/>
          <a:p>
            <a:r>
              <a:rPr lang="en-US" dirty="0"/>
              <a:t>Dr. </a:t>
            </a:r>
            <a:r>
              <a:rPr lang="en-US" dirty="0" err="1"/>
              <a:t>Sharmin</a:t>
            </a:r>
            <a:r>
              <a:rPr lang="en-US" dirty="0"/>
              <a:t> - Correct 910, Incorrect 619,Total 1529, </a:t>
            </a:r>
            <a:r>
              <a:rPr lang="en-US" dirty="0" err="1"/>
              <a:t>Accuracy_Pct</a:t>
            </a:r>
            <a:r>
              <a:rPr lang="en-US" dirty="0"/>
              <a:t> 59.52%, TP 341,TN 569, FP 571, FN 43, AUC 0.6937.</a:t>
            </a:r>
          </a:p>
          <a:p>
            <a:endParaRPr lang="en-US" dirty="0"/>
          </a:p>
          <a:p>
            <a:r>
              <a:rPr lang="en-US" dirty="0"/>
              <a:t>she correctly caught </a:t>
            </a:r>
            <a:r>
              <a:rPr lang="en-US" b="1" dirty="0"/>
              <a:t>341 of the 385 patients who actually had CVD</a:t>
            </a:r>
            <a:r>
              <a:rPr lang="en-US" dirty="0"/>
              <a:t> (88.6% recall). Her lower accuracy comes from flagging 60% of patients as high-risk against a true 25% prevalence — more false alarms, but far fewer missed real cases.</a:t>
            </a:r>
          </a:p>
        </p:txBody>
      </p:sp>
    </p:spTree>
    <p:extLst>
      <p:ext uri="{BB962C8B-B14F-4D97-AF65-F5344CB8AC3E}">
        <p14:creationId xmlns:p14="http://schemas.microsoft.com/office/powerpoint/2010/main" val="1195622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C02CC-7652-3C5E-9975-3C94A36D1136}"/>
              </a:ext>
            </a:extLst>
          </p:cNvPr>
          <p:cNvSpPr>
            <a:spLocks noGrp="1"/>
          </p:cNvSpPr>
          <p:nvPr>
            <p:ph type="title"/>
          </p:nvPr>
        </p:nvSpPr>
        <p:spPr/>
        <p:txBody>
          <a:bodyPr>
            <a:normAutofit fontScale="90000"/>
          </a:bodyPr>
          <a:lstStyle/>
          <a:p>
            <a:r>
              <a:rPr lang="en-US" dirty="0"/>
              <a:t>9 models Accuracy vs </a:t>
            </a:r>
            <a:r>
              <a:rPr lang="en-US" dirty="0" err="1"/>
              <a:t>Frontair</a:t>
            </a:r>
            <a:r>
              <a:rPr lang="en-US" dirty="0"/>
              <a:t> vs Doctor’s accuracy</a:t>
            </a:r>
          </a:p>
        </p:txBody>
      </p:sp>
      <p:graphicFrame>
        <p:nvGraphicFramePr>
          <p:cNvPr id="4" name="Table 3">
            <a:extLst>
              <a:ext uri="{FF2B5EF4-FFF2-40B4-BE49-F238E27FC236}">
                <a16:creationId xmlns:a16="http://schemas.microsoft.com/office/drawing/2014/main" id="{49F78A6A-3A7B-D4E5-C49B-540C0EF48E67}"/>
              </a:ext>
            </a:extLst>
          </p:cNvPr>
          <p:cNvGraphicFramePr>
            <a:graphicFrameLocks noGrp="1"/>
          </p:cNvGraphicFramePr>
          <p:nvPr>
            <p:extLst>
              <p:ext uri="{D42A27DB-BD31-4B8C-83A1-F6EECF244321}">
                <p14:modId xmlns:p14="http://schemas.microsoft.com/office/powerpoint/2010/main" val="527040746"/>
              </p:ext>
            </p:extLst>
          </p:nvPr>
        </p:nvGraphicFramePr>
        <p:xfrm>
          <a:off x="460332" y="1017725"/>
          <a:ext cx="8223336" cy="3078132"/>
        </p:xfrm>
        <a:graphic>
          <a:graphicData uri="http://schemas.openxmlformats.org/drawingml/2006/table">
            <a:tbl>
              <a:tblPr firstRow="1" bandRow="1">
                <a:tableStyleId>{4E8D13D3-F409-40F9-8654-14557241AADC}</a:tableStyleId>
              </a:tblPr>
              <a:tblGrid>
                <a:gridCol w="913704">
                  <a:extLst>
                    <a:ext uri="{9D8B030D-6E8A-4147-A177-3AD203B41FA5}">
                      <a16:colId xmlns:a16="http://schemas.microsoft.com/office/drawing/2014/main" val="571701070"/>
                    </a:ext>
                  </a:extLst>
                </a:gridCol>
                <a:gridCol w="913704">
                  <a:extLst>
                    <a:ext uri="{9D8B030D-6E8A-4147-A177-3AD203B41FA5}">
                      <a16:colId xmlns:a16="http://schemas.microsoft.com/office/drawing/2014/main" val="4022309461"/>
                    </a:ext>
                  </a:extLst>
                </a:gridCol>
                <a:gridCol w="913704">
                  <a:extLst>
                    <a:ext uri="{9D8B030D-6E8A-4147-A177-3AD203B41FA5}">
                      <a16:colId xmlns:a16="http://schemas.microsoft.com/office/drawing/2014/main" val="853660715"/>
                    </a:ext>
                  </a:extLst>
                </a:gridCol>
                <a:gridCol w="913704">
                  <a:extLst>
                    <a:ext uri="{9D8B030D-6E8A-4147-A177-3AD203B41FA5}">
                      <a16:colId xmlns:a16="http://schemas.microsoft.com/office/drawing/2014/main" val="2732490088"/>
                    </a:ext>
                  </a:extLst>
                </a:gridCol>
                <a:gridCol w="913704">
                  <a:extLst>
                    <a:ext uri="{9D8B030D-6E8A-4147-A177-3AD203B41FA5}">
                      <a16:colId xmlns:a16="http://schemas.microsoft.com/office/drawing/2014/main" val="917612239"/>
                    </a:ext>
                  </a:extLst>
                </a:gridCol>
                <a:gridCol w="913704">
                  <a:extLst>
                    <a:ext uri="{9D8B030D-6E8A-4147-A177-3AD203B41FA5}">
                      <a16:colId xmlns:a16="http://schemas.microsoft.com/office/drawing/2014/main" val="939898966"/>
                    </a:ext>
                  </a:extLst>
                </a:gridCol>
                <a:gridCol w="913704">
                  <a:extLst>
                    <a:ext uri="{9D8B030D-6E8A-4147-A177-3AD203B41FA5}">
                      <a16:colId xmlns:a16="http://schemas.microsoft.com/office/drawing/2014/main" val="3415368404"/>
                    </a:ext>
                  </a:extLst>
                </a:gridCol>
                <a:gridCol w="913704">
                  <a:extLst>
                    <a:ext uri="{9D8B030D-6E8A-4147-A177-3AD203B41FA5}">
                      <a16:colId xmlns:a16="http://schemas.microsoft.com/office/drawing/2014/main" val="4285471205"/>
                    </a:ext>
                  </a:extLst>
                </a:gridCol>
                <a:gridCol w="913704">
                  <a:extLst>
                    <a:ext uri="{9D8B030D-6E8A-4147-A177-3AD203B41FA5}">
                      <a16:colId xmlns:a16="http://schemas.microsoft.com/office/drawing/2014/main" val="3893453925"/>
                    </a:ext>
                  </a:extLst>
                </a:gridCol>
              </a:tblGrid>
              <a:tr h="380913">
                <a:tc>
                  <a:txBody>
                    <a:bodyPr/>
                    <a:lstStyle/>
                    <a:p>
                      <a:r>
                        <a:rPr lang="en-US" dirty="0"/>
                        <a:t>Form</a:t>
                      </a:r>
                    </a:p>
                  </a:txBody>
                  <a:tcPr/>
                </a:tc>
                <a:tc>
                  <a:txBody>
                    <a:bodyPr/>
                    <a:lstStyle/>
                    <a:p>
                      <a:r>
                        <a:rPr lang="en-US" dirty="0"/>
                        <a:t>Accuracy</a:t>
                      </a:r>
                    </a:p>
                  </a:txBody>
                  <a:tcPr/>
                </a:tc>
                <a:tc>
                  <a:txBody>
                    <a:bodyPr/>
                    <a:lstStyle/>
                    <a:p>
                      <a:r>
                        <a:rPr lang="en-US" dirty="0"/>
                        <a:t>F1</a:t>
                      </a:r>
                    </a:p>
                  </a:txBody>
                  <a:tcPr/>
                </a:tc>
                <a:tc>
                  <a:txBody>
                    <a:bodyPr/>
                    <a:lstStyle/>
                    <a:p>
                      <a:r>
                        <a:rPr lang="en-US" dirty="0"/>
                        <a:t>Precision</a:t>
                      </a:r>
                    </a:p>
                  </a:txBody>
                  <a:tcPr/>
                </a:tc>
                <a:tc>
                  <a:txBody>
                    <a:bodyPr/>
                    <a:lstStyle/>
                    <a:p>
                      <a:r>
                        <a:rPr lang="en-US" dirty="0"/>
                        <a:t>Recall</a:t>
                      </a:r>
                    </a:p>
                  </a:txBody>
                  <a:tcPr/>
                </a:tc>
                <a:tc>
                  <a:txBody>
                    <a:bodyPr/>
                    <a:lstStyle/>
                    <a:p>
                      <a:r>
                        <a:rPr lang="en-US" dirty="0"/>
                        <a:t>TP</a:t>
                      </a:r>
                    </a:p>
                  </a:txBody>
                  <a:tcPr/>
                </a:tc>
                <a:tc>
                  <a:txBody>
                    <a:bodyPr/>
                    <a:lstStyle/>
                    <a:p>
                      <a:r>
                        <a:rPr lang="en-US" dirty="0"/>
                        <a:t>TN</a:t>
                      </a:r>
                    </a:p>
                  </a:txBody>
                  <a:tcPr/>
                </a:tc>
                <a:tc>
                  <a:txBody>
                    <a:bodyPr/>
                    <a:lstStyle/>
                    <a:p>
                      <a:r>
                        <a:rPr lang="en-US" dirty="0"/>
                        <a:t>FP</a:t>
                      </a:r>
                    </a:p>
                  </a:txBody>
                  <a:tcPr/>
                </a:tc>
                <a:tc>
                  <a:txBody>
                    <a:bodyPr/>
                    <a:lstStyle/>
                    <a:p>
                      <a:r>
                        <a:rPr lang="en-US" dirty="0"/>
                        <a:t>FN</a:t>
                      </a:r>
                    </a:p>
                  </a:txBody>
                  <a:tcPr/>
                </a:tc>
                <a:extLst>
                  <a:ext uri="{0D108BD9-81ED-4DB2-BD59-A6C34878D82A}">
                    <a16:rowId xmlns:a16="http://schemas.microsoft.com/office/drawing/2014/main" val="2323420858"/>
                  </a:ext>
                </a:extLst>
              </a:tr>
              <a:tr h="380913">
                <a:tc>
                  <a:txBody>
                    <a:bodyPr/>
                    <a:lstStyle/>
                    <a:p>
                      <a:r>
                        <a:rPr lang="en-US" dirty="0"/>
                        <a:t>Ensemble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1" dirty="0"/>
                        <a:t>76.84%</a:t>
                      </a:r>
                    </a:p>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51524823"/>
                  </a:ext>
                </a:extLst>
              </a:tr>
              <a:tr h="38091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err="1"/>
                        <a:t>XGBoost</a:t>
                      </a:r>
                      <a:endParaRPr lang="en-US" sz="1400"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t>75.28%</a:t>
                      </a:r>
                      <a:endParaRPr lang="en-US" sz="1400"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19.23</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t>54.22%</a:t>
                      </a:r>
                      <a:endParaRPr lang="en-US" sz="1400" dirty="0"/>
                    </a:p>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475643234"/>
                  </a:ext>
                </a:extLst>
              </a:tr>
              <a:tr h="380913">
                <a:tc>
                  <a:txBody>
                    <a:bodyPr/>
                    <a:lstStyle/>
                    <a:p>
                      <a:r>
                        <a:rPr lang="en-US" dirty="0"/>
                        <a:t>ChatGPT</a:t>
                      </a:r>
                    </a:p>
                  </a:txBody>
                  <a:tcPr/>
                </a:tc>
                <a:tc>
                  <a:txBody>
                    <a:bodyPr/>
                    <a:lstStyle/>
                    <a:p>
                      <a:r>
                        <a:rPr lang="en-US" dirty="0"/>
                        <a:t>49.57%</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00802406"/>
                  </a:ext>
                </a:extLst>
              </a:tr>
              <a:tr h="380913">
                <a:tc>
                  <a:txBody>
                    <a:bodyPr/>
                    <a:lstStyle/>
                    <a:p>
                      <a:r>
                        <a:rPr lang="en-US" dirty="0"/>
                        <a:t>Grok</a:t>
                      </a:r>
                    </a:p>
                  </a:txBody>
                  <a:tcPr/>
                </a:tc>
                <a:tc>
                  <a:txBody>
                    <a:bodyPr/>
                    <a:lstStyle/>
                    <a:p>
                      <a:r>
                        <a:rPr lang="en-US" dirty="0"/>
                        <a:t>63.64%</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125672209"/>
                  </a:ext>
                </a:extLst>
              </a:tr>
              <a:tr h="380913">
                <a:tc>
                  <a:txBody>
                    <a:bodyPr/>
                    <a:lstStyle/>
                    <a:p>
                      <a:r>
                        <a:rPr lang="en-US" dirty="0"/>
                        <a:t>Claud</a:t>
                      </a:r>
                    </a:p>
                  </a:txBody>
                  <a:tcPr/>
                </a:tc>
                <a:tc>
                  <a:txBody>
                    <a:bodyPr/>
                    <a:lstStyle/>
                    <a:p>
                      <a:r>
                        <a:rPr lang="en-US" dirty="0"/>
                        <a:t>43.36%</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86490169"/>
                  </a:ext>
                </a:extLst>
              </a:tr>
              <a:tr h="380913">
                <a:tc>
                  <a:txBody>
                    <a:bodyPr/>
                    <a:lstStyle/>
                    <a:p>
                      <a:r>
                        <a:rPr lang="en-US" dirty="0"/>
                        <a:t>Doctor</a:t>
                      </a:r>
                    </a:p>
                  </a:txBody>
                  <a:tcPr/>
                </a:tc>
                <a:tc>
                  <a:txBody>
                    <a:bodyPr/>
                    <a:lstStyle/>
                    <a:p>
                      <a:r>
                        <a:rPr lang="en-US" dirty="0"/>
                        <a:t>59.71%</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440703749"/>
                  </a:ext>
                </a:extLst>
              </a:tr>
            </a:tbl>
          </a:graphicData>
        </a:graphic>
      </p:graphicFrame>
    </p:spTree>
    <p:extLst>
      <p:ext uri="{BB962C8B-B14F-4D97-AF65-F5344CB8AC3E}">
        <p14:creationId xmlns:p14="http://schemas.microsoft.com/office/powerpoint/2010/main" val="1212813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BDDC0-750E-A122-549B-3D475AEA2DF8}"/>
              </a:ext>
            </a:extLst>
          </p:cNvPr>
          <p:cNvSpPr>
            <a:spLocks noGrp="1"/>
          </p:cNvSpPr>
          <p:nvPr>
            <p:ph type="title"/>
          </p:nvPr>
        </p:nvSpPr>
        <p:spPr/>
        <p:txBody>
          <a:bodyPr>
            <a:normAutofit fontScale="90000"/>
          </a:bodyPr>
          <a:lstStyle/>
          <a:p>
            <a:r>
              <a:rPr lang="en-US" dirty="0"/>
              <a:t>Gini </a:t>
            </a:r>
            <a:r>
              <a:rPr lang="en-US"/>
              <a:t>- Entropy</a:t>
            </a:r>
          </a:p>
        </p:txBody>
      </p:sp>
      <p:sp>
        <p:nvSpPr>
          <p:cNvPr id="3" name="Text Placeholder 2">
            <a:extLst>
              <a:ext uri="{FF2B5EF4-FFF2-40B4-BE49-F238E27FC236}">
                <a16:creationId xmlns:a16="http://schemas.microsoft.com/office/drawing/2014/main" id="{4B60A569-3F49-646B-868A-B5054DE0CF9C}"/>
              </a:ext>
            </a:extLst>
          </p:cNvPr>
          <p:cNvSpPr>
            <a:spLocks noGrp="1"/>
          </p:cNvSpPr>
          <p:nvPr>
            <p:ph type="body" idx="1"/>
          </p:nvPr>
        </p:nvSpPr>
        <p:spPr/>
        <p:txBody>
          <a:bodyPr/>
          <a:lstStyle/>
          <a:p>
            <a:r>
              <a:rPr lang="en-US" dirty="0"/>
              <a:t>Random Forest/ Extra Tree: Diastolic BP 30%, Systolic BP 29%, Age 12.5%. </a:t>
            </a:r>
            <a:endParaRPr lang="en-US" b="1" dirty="0"/>
          </a:p>
          <a:p>
            <a:r>
              <a:rPr lang="en-US" dirty="0" err="1"/>
              <a:t>XGBoost</a:t>
            </a:r>
            <a:r>
              <a:rPr lang="en-US" dirty="0"/>
              <a:t> / </a:t>
            </a:r>
            <a:r>
              <a:rPr lang="en-US" dirty="0" err="1"/>
              <a:t>LightGBM</a:t>
            </a:r>
            <a:r>
              <a:rPr lang="en-US" b="1" dirty="0"/>
              <a:t>: Gain </a:t>
            </a:r>
            <a:r>
              <a:rPr lang="en-US" dirty="0"/>
              <a:t>Systolic BP ~33%, Diastolic BP ~32%, Age ~15%</a:t>
            </a:r>
          </a:p>
          <a:p>
            <a:endParaRPr lang="en-US" dirty="0"/>
          </a:p>
          <a:p>
            <a:endParaRPr lang="en-US" dirty="0"/>
          </a:p>
        </p:txBody>
      </p:sp>
    </p:spTree>
    <p:extLst>
      <p:ext uri="{BB962C8B-B14F-4D97-AF65-F5344CB8AC3E}">
        <p14:creationId xmlns:p14="http://schemas.microsoft.com/office/powerpoint/2010/main" val="103223781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1002</Words>
  <Application>Microsoft Office PowerPoint</Application>
  <PresentationFormat>On-screen Show (16:9)</PresentationFormat>
  <Paragraphs>376</Paragraphs>
  <Slides>11</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Simple Light</vt:lpstr>
      <vt:lpstr>CVD prediction using ML</vt:lpstr>
      <vt:lpstr>Project Goal</vt:lpstr>
      <vt:lpstr>Performance with 5 models training + ensemble</vt:lpstr>
      <vt:lpstr>Performance on BD testing with 5 models + ensemble</vt:lpstr>
      <vt:lpstr>Performance with 8 models training + ensemble </vt:lpstr>
      <vt:lpstr>Performance on BD testing with 8 models + ensemble</vt:lpstr>
      <vt:lpstr>BD performance at threshold 0.5</vt:lpstr>
      <vt:lpstr>Frontair Model accuracy</vt:lpstr>
      <vt:lpstr>Doctor’s prediction</vt:lpstr>
      <vt:lpstr>9 models Accuracy vs Frontair vs Doctor’s accuracy</vt:lpstr>
      <vt:lpstr>Gini - Entropy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CVD prediction using ML</dc:title>
  <cp:lastModifiedBy>Sadia Ahmed</cp:lastModifiedBy>
  <cp:revision>7</cp:revision>
  <dcterms:modified xsi:type="dcterms:W3CDTF">2026-10-18T10:05:16Z</dcterms:modified>
</cp:coreProperties>
</file>